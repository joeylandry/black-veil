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"As part of LEAP we've been working through the Neueda training — and each topic is usually practiced as its own exercise. I wanted to see what happens when you connect them. Black Veil is the result: a full-stack application with a real database, APIs, authentication, and a working admin workflow — and it powers an actual event people will attend.
I'm not going to spend time on the story — I'll show you that in a minute. What I want to pitch in the next three minutes is why a project like this could add value to LEAP."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seconds — the strongest slide. Don't read the rows; pick two or three.
- "It isn't a static site. There's a real Postgres database — six related tables — with versioned migrations, so the schema changes the way it would on a team."
- "The back end is ten API routes. When a guest submits a puzzle answer, the answer is checked on the server — the correct answers never ship to the browser. That's exactly the kind of security thinking our training talks about, but here I had to actually make the decision."
- "Sign-in is passwordless: you get an emailed one-time link, and the database only stores a hash of it."
- "And the part I'm proudest of: the app contains twelve engineering labs, graded by the server, built on the same topics as our sprints — Git recovery, merge conflicts, Docker, CI gates, SQL, JWT, Kafka. There's even a script that solves all twelve and confirms that an untouched submission fails."
Transition: "So technically it touches most of what we learn. But that's only half of the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seconds.
"On the left is what you'd expect from any good training project: associates own a feature, use Git for real, integrate with each other, and hit the problems that only show up when two people's code meets.
On the right is what makes this different. The finished software runs an actual interactive murder-mystery experience: guests sign in, work through puzzles together, and scores update live. Things that can't be auto-checked — an in-person objective — get submitted as point claims that staff approve from an admin page.
So instead of a project that gets graded and forgotten, the cohort actually uses what it built. The deliverable becomes the team-building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"Here's one way it could fit — as something that complements what LEAP is already doing.
Associates learn through the existing training. Small teams each own a slice of one shared application — for example, one team on the database and APIs, one on sign-in, one on the front end, one on the puzzles and grading, one on the admin and scoring tools. Those pieces have to integrate into one app, which is where most of the real learning happens. It gets deployed. And then the cohort gets together and plays it.
It could be a supplemental project, a capstone, a hackathon, practice between modules, or simply a LEAP social event — the format is flexible.
I'm not suggesting LEAP change; I think this could sit alongside it.
Let me show you what that actually looks like." → switch to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217"/>
        </a:solidFill>
      </p:bgPr>
    </p:bg>
    <p:spTree>
      <p:nvGrpSpPr>
        <p:cNvPr id="1" name=""/>
        <p:cNvGrpSpPr/>
        <p:nvPr/>
      </p:nvGrpSpPr>
      <p:grpSpPr>
        <a:xfrm>
          <a:off x="0" y="0"/>
          <a:ext cx="0" cy="0"/>
          <a:chOff x="0" y="0"/>
          <a:chExt cx="0" cy="0"/>
        </a:xfrm>
      </p:grpSpPr>
      <p:sp>
        <p:nvSpPr>
          <p:cNvPr id="2" name="Text 0"/>
          <p:cNvSpPr txBox="1"/>
          <p:nvPr/>
        </p:nvSpPr>
        <p:spPr>
          <a:xfrm>
            <a:off x="731520" y="731520"/>
            <a:ext cx="7315200" cy="320040"/>
          </a:xfrm>
          <a:prstGeom prst="rect">
            <a:avLst/>
          </a:prstGeom>
          <a:noFill/>
          <a:ln/>
        </p:spPr>
        <p:txBody>
          <a:bodyPr wrap="square" lIns="0" tIns="0" rIns="0" bIns="0" rtlCol="0" anchor="ctr"/>
          <a:lstStyle/>
          <a:p>
            <a:pPr indent="0" marL="0">
              <a:buNone/>
            </a:pPr>
            <a:r>
              <a:rPr lang="en-US" sz="1300" b="1" spc="400" kern="0" dirty="0">
                <a:solidFill>
                  <a:srgbClr val="C9A45C"/>
                </a:solidFill>
                <a:latin typeface="Calibri" pitchFamily="34" charset="0"/>
                <a:ea typeface="Calibri" pitchFamily="34" charset="-122"/>
                <a:cs typeface="Calibri" pitchFamily="34" charset="-120"/>
              </a:rPr>
              <a:t>LEAP  ·  ASSOCIATE PROJECT</a:t>
            </a:r>
            <a:endParaRPr lang="en-US" sz="1300" dirty="0"/>
          </a:p>
        </p:txBody>
      </p:sp>
      <p:sp>
        <p:nvSpPr>
          <p:cNvPr id="3" name="Text 1"/>
          <p:cNvSpPr txBox="1"/>
          <p:nvPr/>
        </p:nvSpPr>
        <p:spPr>
          <a:xfrm>
            <a:off x="731520" y="1234440"/>
            <a:ext cx="10058400" cy="1097280"/>
          </a:xfrm>
          <a:prstGeom prst="rect">
            <a:avLst/>
          </a:prstGeom>
          <a:noFill/>
          <a:ln/>
        </p:spPr>
        <p:txBody>
          <a:bodyPr wrap="square" lIns="0" tIns="0" rIns="0" bIns="0" rtlCol="0" anchor="ctr"/>
          <a:lstStyle/>
          <a:p>
            <a:pPr indent="0" marL="0">
              <a:buNone/>
            </a:pPr>
            <a:r>
              <a:rPr lang="en-US" sz="6600" b="1" dirty="0">
                <a:solidFill>
                  <a:srgbClr val="F7F5F1"/>
                </a:solidFill>
                <a:latin typeface="Cambria" pitchFamily="34" charset="0"/>
                <a:ea typeface="Cambria" pitchFamily="34" charset="-122"/>
                <a:cs typeface="Cambria" pitchFamily="34" charset="-120"/>
              </a:rPr>
              <a:t>Black Veil</a:t>
            </a:r>
            <a:endParaRPr lang="en-US" sz="6600" dirty="0"/>
          </a:p>
        </p:txBody>
      </p:sp>
      <p:sp>
        <p:nvSpPr>
          <p:cNvPr id="4" name="Text 2"/>
          <p:cNvSpPr txBox="1"/>
          <p:nvPr/>
        </p:nvSpPr>
        <p:spPr>
          <a:xfrm>
            <a:off x="731520" y="2377440"/>
            <a:ext cx="10058400" cy="548640"/>
          </a:xfrm>
          <a:prstGeom prst="rect">
            <a:avLst/>
          </a:prstGeom>
          <a:noFill/>
          <a:ln/>
        </p:spPr>
        <p:txBody>
          <a:bodyPr wrap="square" lIns="0" tIns="0" rIns="0" bIns="0" rtlCol="0" anchor="ctr"/>
          <a:lstStyle/>
          <a:p>
            <a:pPr indent="0" marL="0">
              <a:buNone/>
            </a:pPr>
            <a:r>
              <a:rPr lang="en-US" sz="2800" i="1" dirty="0">
                <a:solidFill>
                  <a:srgbClr val="C9A45C"/>
                </a:solidFill>
                <a:latin typeface="Cambria" pitchFamily="34" charset="0"/>
                <a:ea typeface="Cambria" pitchFamily="34" charset="-122"/>
                <a:cs typeface="Cambria" pitchFamily="34" charset="-120"/>
              </a:rPr>
              <a:t>From LEAP learning to a hands-on experience</a:t>
            </a:r>
            <a:endParaRPr lang="en-US" sz="2800" dirty="0"/>
          </a:p>
        </p:txBody>
      </p:sp>
      <p:sp>
        <p:nvSpPr>
          <p:cNvPr id="5" name="Text 3"/>
          <p:cNvSpPr txBox="1"/>
          <p:nvPr/>
        </p:nvSpPr>
        <p:spPr>
          <a:xfrm>
            <a:off x="731520" y="3108960"/>
            <a:ext cx="7863840" cy="822960"/>
          </a:xfrm>
          <a:prstGeom prst="rect">
            <a:avLst/>
          </a:prstGeom>
          <a:noFill/>
          <a:ln/>
        </p:spPr>
        <p:txBody>
          <a:bodyPr wrap="square" lIns="0" tIns="0" rIns="0" bIns="0" rtlCol="0" anchor="ctr"/>
          <a:lstStyle/>
          <a:p>
            <a:pPr indent="0" marL="0">
              <a:buNone/>
            </a:pPr>
            <a:r>
              <a:rPr lang="en-US" sz="1700" dirty="0">
                <a:solidFill>
                  <a:srgbClr val="B9B6C2"/>
                </a:solidFill>
                <a:latin typeface="Calibri" pitchFamily="34" charset="0"/>
                <a:ea typeface="Calibri" pitchFamily="34" charset="-122"/>
                <a:cs typeface="Calibri" pitchFamily="34" charset="-120"/>
              </a:rPr>
              <a:t>Taking the concepts from our LEAP / Neueda training and connecting them in one complete, working application — built end to end and used by real people.</a:t>
            </a:r>
            <a:endParaRPr lang="en-US" sz="1700" dirty="0"/>
          </a:p>
        </p:txBody>
      </p:sp>
      <p:sp>
        <p:nvSpPr>
          <p:cNvPr id="6" name="Shape 4"/>
          <p:cNvSpPr/>
          <p:nvPr/>
        </p:nvSpPr>
        <p:spPr>
          <a:xfrm>
            <a:off x="731520" y="4434840"/>
            <a:ext cx="2514600" cy="1234440"/>
          </a:xfrm>
          <a:prstGeom prst="roundRect">
            <a:avLst>
              <a:gd name="adj" fmla="val 5926"/>
            </a:avLst>
          </a:prstGeom>
          <a:solidFill>
            <a:srgbClr val="1E1E26"/>
          </a:solidFill>
          <a:ln w="9525">
            <a:solidFill>
              <a:srgbClr val="3A3A46"/>
            </a:solidFill>
            <a:prstDash val="solid"/>
          </a:ln>
        </p:spPr>
      </p:sp>
      <p:sp>
        <p:nvSpPr>
          <p:cNvPr id="7" name="Text 5"/>
          <p:cNvSpPr txBox="1"/>
          <p:nvPr/>
        </p:nvSpPr>
        <p:spPr>
          <a:xfrm>
            <a:off x="960120" y="4526280"/>
            <a:ext cx="2103120" cy="685800"/>
          </a:xfrm>
          <a:prstGeom prst="rect">
            <a:avLst/>
          </a:prstGeom>
          <a:noFill/>
          <a:ln/>
        </p:spPr>
        <p:txBody>
          <a:bodyPr wrap="square" lIns="0" tIns="0" rIns="0" bIns="0" rtlCol="0" anchor="ctr"/>
          <a:lstStyle/>
          <a:p>
            <a:pPr indent="0" marL="0">
              <a:buNone/>
            </a:pPr>
            <a:r>
              <a:rPr lang="en-US" sz="4000" b="1" dirty="0">
                <a:solidFill>
                  <a:srgbClr val="C9A45C"/>
                </a:solidFill>
                <a:latin typeface="Cambria" pitchFamily="34" charset="0"/>
                <a:ea typeface="Cambria" pitchFamily="34" charset="-122"/>
                <a:cs typeface="Cambria" pitchFamily="34" charset="-120"/>
              </a:rPr>
              <a:t>6</a:t>
            </a:r>
            <a:endParaRPr lang="en-US" sz="4000" dirty="0"/>
          </a:p>
        </p:txBody>
      </p:sp>
      <p:sp>
        <p:nvSpPr>
          <p:cNvPr id="8" name="Text 6"/>
          <p:cNvSpPr txBox="1"/>
          <p:nvPr/>
        </p:nvSpPr>
        <p:spPr>
          <a:xfrm>
            <a:off x="960120" y="5193792"/>
            <a:ext cx="2148840" cy="365760"/>
          </a:xfrm>
          <a:prstGeom prst="rect">
            <a:avLst/>
          </a:prstGeom>
          <a:noFill/>
          <a:ln/>
        </p:spPr>
        <p:txBody>
          <a:bodyPr wrap="square" lIns="0" tIns="0" rIns="0" bIns="0" rtlCol="0" anchor="ctr"/>
          <a:lstStyle/>
          <a:p>
            <a:pPr indent="0" marL="0">
              <a:buNone/>
            </a:pPr>
            <a:r>
              <a:rPr lang="en-US" sz="1300" dirty="0">
                <a:solidFill>
                  <a:srgbClr val="EDEAE3"/>
                </a:solidFill>
                <a:latin typeface="Calibri" pitchFamily="34" charset="0"/>
                <a:ea typeface="Calibri" pitchFamily="34" charset="-122"/>
                <a:cs typeface="Calibri" pitchFamily="34" charset="-120"/>
              </a:rPr>
              <a:t>related database tables</a:t>
            </a:r>
            <a:endParaRPr lang="en-US" sz="1300" dirty="0"/>
          </a:p>
        </p:txBody>
      </p:sp>
      <p:sp>
        <p:nvSpPr>
          <p:cNvPr id="9" name="Shape 7"/>
          <p:cNvSpPr/>
          <p:nvPr/>
        </p:nvSpPr>
        <p:spPr>
          <a:xfrm>
            <a:off x="3474720" y="4434840"/>
            <a:ext cx="2514600" cy="1234440"/>
          </a:xfrm>
          <a:prstGeom prst="roundRect">
            <a:avLst>
              <a:gd name="adj" fmla="val 5926"/>
            </a:avLst>
          </a:prstGeom>
          <a:solidFill>
            <a:srgbClr val="1E1E26"/>
          </a:solidFill>
          <a:ln w="9525">
            <a:solidFill>
              <a:srgbClr val="3A3A46"/>
            </a:solidFill>
            <a:prstDash val="solid"/>
          </a:ln>
        </p:spPr>
      </p:sp>
      <p:sp>
        <p:nvSpPr>
          <p:cNvPr id="10" name="Text 8"/>
          <p:cNvSpPr txBox="1"/>
          <p:nvPr/>
        </p:nvSpPr>
        <p:spPr>
          <a:xfrm>
            <a:off x="3703320" y="4526280"/>
            <a:ext cx="2103120" cy="685800"/>
          </a:xfrm>
          <a:prstGeom prst="rect">
            <a:avLst/>
          </a:prstGeom>
          <a:noFill/>
          <a:ln/>
        </p:spPr>
        <p:txBody>
          <a:bodyPr wrap="square" lIns="0" tIns="0" rIns="0" bIns="0" rtlCol="0" anchor="ctr"/>
          <a:lstStyle/>
          <a:p>
            <a:pPr indent="0" marL="0">
              <a:buNone/>
            </a:pPr>
            <a:r>
              <a:rPr lang="en-US" sz="4000" b="1" dirty="0">
                <a:solidFill>
                  <a:srgbClr val="C9A45C"/>
                </a:solidFill>
                <a:latin typeface="Cambria" pitchFamily="34" charset="0"/>
                <a:ea typeface="Cambria" pitchFamily="34" charset="-122"/>
                <a:cs typeface="Cambria" pitchFamily="34" charset="-120"/>
              </a:rPr>
              <a:t>10</a:t>
            </a:r>
            <a:endParaRPr lang="en-US" sz="4000" dirty="0"/>
          </a:p>
        </p:txBody>
      </p:sp>
      <p:sp>
        <p:nvSpPr>
          <p:cNvPr id="11" name="Text 9"/>
          <p:cNvSpPr txBox="1"/>
          <p:nvPr/>
        </p:nvSpPr>
        <p:spPr>
          <a:xfrm>
            <a:off x="3703320" y="5193792"/>
            <a:ext cx="2148840" cy="365760"/>
          </a:xfrm>
          <a:prstGeom prst="rect">
            <a:avLst/>
          </a:prstGeom>
          <a:noFill/>
          <a:ln/>
        </p:spPr>
        <p:txBody>
          <a:bodyPr wrap="square" lIns="0" tIns="0" rIns="0" bIns="0" rtlCol="0" anchor="ctr"/>
          <a:lstStyle/>
          <a:p>
            <a:pPr indent="0" marL="0">
              <a:buNone/>
            </a:pPr>
            <a:r>
              <a:rPr lang="en-US" sz="1300" dirty="0">
                <a:solidFill>
                  <a:srgbClr val="EDEAE3"/>
                </a:solidFill>
                <a:latin typeface="Calibri" pitchFamily="34" charset="0"/>
                <a:ea typeface="Calibri" pitchFamily="34" charset="-122"/>
                <a:cs typeface="Calibri" pitchFamily="34" charset="-120"/>
              </a:rPr>
              <a:t>server API routes</a:t>
            </a:r>
            <a:endParaRPr lang="en-US" sz="1300" dirty="0"/>
          </a:p>
        </p:txBody>
      </p:sp>
      <p:sp>
        <p:nvSpPr>
          <p:cNvPr id="12" name="Shape 10"/>
          <p:cNvSpPr/>
          <p:nvPr/>
        </p:nvSpPr>
        <p:spPr>
          <a:xfrm>
            <a:off x="6217920" y="4434840"/>
            <a:ext cx="2514600" cy="1234440"/>
          </a:xfrm>
          <a:prstGeom prst="roundRect">
            <a:avLst>
              <a:gd name="adj" fmla="val 5926"/>
            </a:avLst>
          </a:prstGeom>
          <a:solidFill>
            <a:srgbClr val="1E1E26"/>
          </a:solidFill>
          <a:ln w="9525">
            <a:solidFill>
              <a:srgbClr val="3A3A46"/>
            </a:solidFill>
            <a:prstDash val="solid"/>
          </a:ln>
        </p:spPr>
      </p:sp>
      <p:sp>
        <p:nvSpPr>
          <p:cNvPr id="13" name="Text 11"/>
          <p:cNvSpPr txBox="1"/>
          <p:nvPr/>
        </p:nvSpPr>
        <p:spPr>
          <a:xfrm>
            <a:off x="6446520" y="4526280"/>
            <a:ext cx="2103120" cy="685800"/>
          </a:xfrm>
          <a:prstGeom prst="rect">
            <a:avLst/>
          </a:prstGeom>
          <a:noFill/>
          <a:ln/>
        </p:spPr>
        <p:txBody>
          <a:bodyPr wrap="square" lIns="0" tIns="0" rIns="0" bIns="0" rtlCol="0" anchor="ctr"/>
          <a:lstStyle/>
          <a:p>
            <a:pPr indent="0" marL="0">
              <a:buNone/>
            </a:pPr>
            <a:r>
              <a:rPr lang="en-US" sz="4000" b="1" dirty="0">
                <a:solidFill>
                  <a:srgbClr val="C9A45C"/>
                </a:solidFill>
                <a:latin typeface="Cambria" pitchFamily="34" charset="0"/>
                <a:ea typeface="Cambria" pitchFamily="34" charset="-122"/>
                <a:cs typeface="Cambria" pitchFamily="34" charset="-120"/>
              </a:rPr>
              <a:t>12</a:t>
            </a:r>
            <a:endParaRPr lang="en-US" sz="4000" dirty="0"/>
          </a:p>
        </p:txBody>
      </p:sp>
      <p:sp>
        <p:nvSpPr>
          <p:cNvPr id="14" name="Text 12"/>
          <p:cNvSpPr txBox="1"/>
          <p:nvPr/>
        </p:nvSpPr>
        <p:spPr>
          <a:xfrm>
            <a:off x="6446520" y="5193792"/>
            <a:ext cx="2148840" cy="365760"/>
          </a:xfrm>
          <a:prstGeom prst="rect">
            <a:avLst/>
          </a:prstGeom>
          <a:noFill/>
          <a:ln/>
        </p:spPr>
        <p:txBody>
          <a:bodyPr wrap="square" lIns="0" tIns="0" rIns="0" bIns="0" rtlCol="0" anchor="ctr"/>
          <a:lstStyle/>
          <a:p>
            <a:pPr indent="0" marL="0">
              <a:buNone/>
            </a:pPr>
            <a:r>
              <a:rPr lang="en-US" sz="1300" dirty="0">
                <a:solidFill>
                  <a:srgbClr val="EDEAE3"/>
                </a:solidFill>
                <a:latin typeface="Calibri" pitchFamily="34" charset="0"/>
                <a:ea typeface="Calibri" pitchFamily="34" charset="-122"/>
                <a:cs typeface="Calibri" pitchFamily="34" charset="-120"/>
              </a:rPr>
              <a:t>server-graded engineering labs</a:t>
            </a:r>
            <a:endParaRPr lang="en-US" sz="1300" dirty="0"/>
          </a:p>
        </p:txBody>
      </p:sp>
      <p:sp>
        <p:nvSpPr>
          <p:cNvPr id="15" name="Shape 13"/>
          <p:cNvSpPr/>
          <p:nvPr/>
        </p:nvSpPr>
        <p:spPr>
          <a:xfrm>
            <a:off x="8961120" y="4434840"/>
            <a:ext cx="2514600" cy="1234440"/>
          </a:xfrm>
          <a:prstGeom prst="roundRect">
            <a:avLst>
              <a:gd name="adj" fmla="val 5926"/>
            </a:avLst>
          </a:prstGeom>
          <a:solidFill>
            <a:srgbClr val="1E1E26"/>
          </a:solidFill>
          <a:ln w="9525">
            <a:solidFill>
              <a:srgbClr val="3A3A46"/>
            </a:solidFill>
            <a:prstDash val="solid"/>
          </a:ln>
        </p:spPr>
      </p:sp>
      <p:sp>
        <p:nvSpPr>
          <p:cNvPr id="16" name="Text 14"/>
          <p:cNvSpPr txBox="1"/>
          <p:nvPr/>
        </p:nvSpPr>
        <p:spPr>
          <a:xfrm>
            <a:off x="9189720" y="4526280"/>
            <a:ext cx="2103120" cy="685800"/>
          </a:xfrm>
          <a:prstGeom prst="rect">
            <a:avLst/>
          </a:prstGeom>
          <a:noFill/>
          <a:ln/>
        </p:spPr>
        <p:txBody>
          <a:bodyPr wrap="square" lIns="0" tIns="0" rIns="0" bIns="0" rtlCol="0" anchor="ctr"/>
          <a:lstStyle/>
          <a:p>
            <a:pPr indent="0" marL="0">
              <a:buNone/>
            </a:pPr>
            <a:r>
              <a:rPr lang="en-US" sz="4000" b="1" dirty="0">
                <a:solidFill>
                  <a:srgbClr val="C9A45C"/>
                </a:solidFill>
                <a:latin typeface="Cambria" pitchFamily="34" charset="0"/>
                <a:ea typeface="Cambria" pitchFamily="34" charset="-122"/>
                <a:cs typeface="Cambria" pitchFamily="34" charset="-120"/>
              </a:rPr>
              <a:t>11</a:t>
            </a:r>
            <a:endParaRPr lang="en-US" sz="4000" dirty="0"/>
          </a:p>
        </p:txBody>
      </p:sp>
      <p:sp>
        <p:nvSpPr>
          <p:cNvPr id="17" name="Text 15"/>
          <p:cNvSpPr txBox="1"/>
          <p:nvPr/>
        </p:nvSpPr>
        <p:spPr>
          <a:xfrm>
            <a:off x="9189720" y="5193792"/>
            <a:ext cx="2148840" cy="365760"/>
          </a:xfrm>
          <a:prstGeom prst="rect">
            <a:avLst/>
          </a:prstGeom>
          <a:noFill/>
          <a:ln/>
        </p:spPr>
        <p:txBody>
          <a:bodyPr wrap="square" lIns="0" tIns="0" rIns="0" bIns="0" rtlCol="0" anchor="ctr"/>
          <a:lstStyle/>
          <a:p>
            <a:pPr indent="0" marL="0">
              <a:buNone/>
            </a:pPr>
            <a:r>
              <a:rPr lang="en-US" sz="1300" dirty="0">
                <a:solidFill>
                  <a:srgbClr val="EDEAE3"/>
                </a:solidFill>
                <a:latin typeface="Calibri" pitchFamily="34" charset="0"/>
                <a:ea typeface="Calibri" pitchFamily="34" charset="-122"/>
                <a:cs typeface="Calibri" pitchFamily="34" charset="-120"/>
              </a:rPr>
              <a:t>feature branches merged via PR</a:t>
            </a:r>
            <a:endParaRPr lang="en-US" sz="1300" dirty="0"/>
          </a:p>
        </p:txBody>
      </p:sp>
      <p:sp>
        <p:nvSpPr>
          <p:cNvPr id="18" name="Text 16"/>
          <p:cNvSpPr txBox="1"/>
          <p:nvPr/>
        </p:nvSpPr>
        <p:spPr>
          <a:xfrm>
            <a:off x="731520" y="6080760"/>
            <a:ext cx="7315200" cy="320040"/>
          </a:xfrm>
          <a:prstGeom prst="rect">
            <a:avLst/>
          </a:prstGeom>
          <a:noFill/>
          <a:ln/>
        </p:spPr>
        <p:txBody>
          <a:bodyPr wrap="square" lIns="0" tIns="0" rIns="0" bIns="0" rtlCol="0" anchor="ctr"/>
          <a:lstStyle/>
          <a:p>
            <a:pPr indent="0" marL="0">
              <a:buNone/>
            </a:pPr>
            <a:r>
              <a:rPr lang="en-US" sz="1200" dirty="0">
                <a:solidFill>
                  <a:srgbClr val="6B6B76"/>
                </a:solidFill>
                <a:latin typeface="Calibri" pitchFamily="34" charset="0"/>
                <a:ea typeface="Calibri" pitchFamily="34" charset="-122"/>
                <a:cs typeface="Calibri" pitchFamily="34" charset="-120"/>
              </a:rPr>
              <a:t>Joey Landry  ·  Associate Software Engineer, LEAP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685800"/>
          </a:xfrm>
          <a:prstGeom prst="rect">
            <a:avLst/>
          </a:prstGeom>
          <a:noFill/>
          <a:ln/>
        </p:spPr>
        <p:txBody>
          <a:bodyPr wrap="square" lIns="0" tIns="0" rIns="0" bIns="0" rtlCol="0" anchor="ctr"/>
          <a:lstStyle/>
          <a:p>
            <a:pPr indent="0" marL="0">
              <a:buNone/>
            </a:pPr>
            <a:r>
              <a:rPr lang="en-US" sz="3600" b="1" dirty="0">
                <a:solidFill>
                  <a:srgbClr val="23232B"/>
                </a:solidFill>
                <a:latin typeface="Cambria" pitchFamily="34" charset="0"/>
                <a:ea typeface="Cambria" pitchFamily="34" charset="-122"/>
                <a:cs typeface="Cambria" pitchFamily="34" charset="-120"/>
              </a:rPr>
              <a:t>Turning learning into practice</a:t>
            </a:r>
            <a:endParaRPr lang="en-US" sz="3600" dirty="0"/>
          </a:p>
        </p:txBody>
      </p:sp>
      <p:sp>
        <p:nvSpPr>
          <p:cNvPr id="3" name="Text 1"/>
          <p:cNvSpPr txBox="1"/>
          <p:nvPr/>
        </p:nvSpPr>
        <p:spPr>
          <a:xfrm>
            <a:off x="548640" y="1024128"/>
            <a:ext cx="10972800" cy="320040"/>
          </a:xfrm>
          <a:prstGeom prst="rect">
            <a:avLst/>
          </a:prstGeom>
          <a:noFill/>
          <a:ln/>
        </p:spPr>
        <p:txBody>
          <a:bodyPr wrap="square" lIns="0" tIns="0" rIns="0" bIns="0" rtlCol="0" anchor="ctr"/>
          <a:lstStyle/>
          <a:p>
            <a:pPr indent="0" marL="0">
              <a:buNone/>
            </a:pPr>
            <a:r>
              <a:rPr lang="en-US" sz="1500" dirty="0">
                <a:solidFill>
                  <a:srgbClr val="6B6B76"/>
                </a:solidFill>
                <a:latin typeface="Calibri" pitchFamily="34" charset="0"/>
                <a:ea typeface="Calibri" pitchFamily="34" charset="-122"/>
                <a:cs typeface="Calibri" pitchFamily="34" charset="-120"/>
              </a:rPr>
              <a:t>Every row below is running code in the Black Veil repository.</a:t>
            </a:r>
            <a:endParaRPr lang="en-US" sz="1500" dirty="0"/>
          </a:p>
        </p:txBody>
      </p:sp>
      <p:sp>
        <p:nvSpPr>
          <p:cNvPr id="4" name="Text 2"/>
          <p:cNvSpPr txBox="1"/>
          <p:nvPr/>
        </p:nvSpPr>
        <p:spPr>
          <a:xfrm>
            <a:off x="731520" y="1536192"/>
            <a:ext cx="2331720" cy="274320"/>
          </a:xfrm>
          <a:prstGeom prst="rect">
            <a:avLst/>
          </a:prstGeom>
          <a:noFill/>
          <a:ln/>
        </p:spPr>
        <p:txBody>
          <a:bodyPr wrap="square" lIns="0" tIns="0" rIns="0" bIns="0" rtlCol="0" anchor="ctr"/>
          <a:lstStyle/>
          <a:p>
            <a:pPr indent="0" marL="0">
              <a:buNone/>
            </a:pPr>
            <a:r>
              <a:rPr lang="en-US" sz="1150" b="1" spc="200" kern="0" dirty="0">
                <a:solidFill>
                  <a:srgbClr val="8C2233"/>
                </a:solidFill>
                <a:latin typeface="Calibri" pitchFamily="34" charset="0"/>
                <a:ea typeface="Calibri" pitchFamily="34" charset="-122"/>
                <a:cs typeface="Calibri" pitchFamily="34" charset="-120"/>
              </a:rPr>
              <a:t>LEAP TRAINING</a:t>
            </a:r>
            <a:endParaRPr lang="en-US" sz="1150" dirty="0"/>
          </a:p>
        </p:txBody>
      </p:sp>
      <p:sp>
        <p:nvSpPr>
          <p:cNvPr id="5" name="Text 3"/>
          <p:cNvSpPr txBox="1"/>
          <p:nvPr/>
        </p:nvSpPr>
        <p:spPr>
          <a:xfrm>
            <a:off x="3429000" y="1536192"/>
            <a:ext cx="4892040" cy="274320"/>
          </a:xfrm>
          <a:prstGeom prst="rect">
            <a:avLst/>
          </a:prstGeom>
          <a:noFill/>
          <a:ln/>
        </p:spPr>
        <p:txBody>
          <a:bodyPr wrap="square" lIns="0" tIns="0" rIns="0" bIns="0" rtlCol="0" anchor="ctr"/>
          <a:lstStyle/>
          <a:p>
            <a:pPr indent="0" marL="0">
              <a:buNone/>
            </a:pPr>
            <a:r>
              <a:rPr lang="en-US" sz="1150" b="1" spc="200" kern="0" dirty="0">
                <a:solidFill>
                  <a:srgbClr val="8C2233"/>
                </a:solidFill>
                <a:latin typeface="Calibri" pitchFamily="34" charset="0"/>
                <a:ea typeface="Calibri" pitchFamily="34" charset="-122"/>
                <a:cs typeface="Calibri" pitchFamily="34" charset="-120"/>
              </a:rPr>
              <a:t>BLACK VEIL IMPLEMENTATION</a:t>
            </a:r>
            <a:endParaRPr lang="en-US" sz="1150" dirty="0"/>
          </a:p>
        </p:txBody>
      </p:sp>
      <p:sp>
        <p:nvSpPr>
          <p:cNvPr id="6" name="Text 4"/>
          <p:cNvSpPr txBox="1"/>
          <p:nvPr/>
        </p:nvSpPr>
        <p:spPr>
          <a:xfrm>
            <a:off x="8686800" y="1536192"/>
            <a:ext cx="3136392" cy="274320"/>
          </a:xfrm>
          <a:prstGeom prst="rect">
            <a:avLst/>
          </a:prstGeom>
          <a:noFill/>
          <a:ln/>
        </p:spPr>
        <p:txBody>
          <a:bodyPr wrap="square" lIns="0" tIns="0" rIns="0" bIns="0" rtlCol="0" anchor="ctr"/>
          <a:lstStyle/>
          <a:p>
            <a:pPr indent="0" marL="0">
              <a:buNone/>
            </a:pPr>
            <a:r>
              <a:rPr lang="en-US" sz="1150" b="1" spc="200" kern="0" dirty="0">
                <a:solidFill>
                  <a:srgbClr val="8C2233"/>
                </a:solidFill>
                <a:latin typeface="Calibri" pitchFamily="34" charset="0"/>
                <a:ea typeface="Calibri" pitchFamily="34" charset="-122"/>
                <a:cs typeface="Calibri" pitchFamily="34" charset="-120"/>
              </a:rPr>
              <a:t>ENGINEERING EXPERIENCE</a:t>
            </a:r>
            <a:endParaRPr lang="en-US" sz="1150" dirty="0"/>
          </a:p>
        </p:txBody>
      </p:sp>
      <p:sp>
        <p:nvSpPr>
          <p:cNvPr id="7" name="Shape 5"/>
          <p:cNvSpPr/>
          <p:nvPr/>
        </p:nvSpPr>
        <p:spPr>
          <a:xfrm>
            <a:off x="548640" y="1847088"/>
            <a:ext cx="11091672" cy="713232"/>
          </a:xfrm>
          <a:prstGeom prst="roundRect">
            <a:avLst>
              <a:gd name="adj" fmla="val 7692"/>
            </a:avLst>
          </a:prstGeom>
          <a:solidFill>
            <a:srgbClr val="FFFFFF"/>
          </a:solidFill>
          <a:ln w="9525">
            <a:solidFill>
              <a:srgbClr val="E2DED6"/>
            </a:solidFill>
            <a:prstDash val="solid"/>
          </a:ln>
        </p:spPr>
      </p:sp>
      <p:sp>
        <p:nvSpPr>
          <p:cNvPr id="8" name="Text 6"/>
          <p:cNvSpPr txBox="1"/>
          <p:nvPr/>
        </p:nvSpPr>
        <p:spPr>
          <a:xfrm>
            <a:off x="731520" y="1847088"/>
            <a:ext cx="2194560" cy="713232"/>
          </a:xfrm>
          <a:prstGeom prst="rect">
            <a:avLst/>
          </a:prstGeom>
          <a:noFill/>
          <a:ln/>
        </p:spPr>
        <p:txBody>
          <a:bodyPr wrap="square" lIns="0" tIns="0" rIns="0" bIns="0" rtlCol="0" anchor="ctr"/>
          <a:lstStyle/>
          <a:p>
            <a:pPr indent="0" marL="0">
              <a:buNone/>
            </a:pPr>
            <a:r>
              <a:rPr lang="en-US" sz="1600" b="1" dirty="0">
                <a:solidFill>
                  <a:srgbClr val="23232B"/>
                </a:solidFill>
                <a:latin typeface="Cambria" pitchFamily="34" charset="0"/>
                <a:ea typeface="Cambria" pitchFamily="34" charset="-122"/>
                <a:cs typeface="Cambria" pitchFamily="34" charset="-120"/>
              </a:rPr>
              <a:t>Databases &amp; SQL</a:t>
            </a:r>
            <a:endParaRPr lang="en-US" sz="1600" dirty="0"/>
          </a:p>
        </p:txBody>
      </p:sp>
      <p:sp>
        <p:nvSpPr>
          <p:cNvPr id="9" name="Text 7"/>
          <p:cNvSpPr txBox="1"/>
          <p:nvPr/>
        </p:nvSpPr>
        <p:spPr>
          <a:xfrm>
            <a:off x="2926080" y="1847088"/>
            <a:ext cx="274320" cy="713232"/>
          </a:xfrm>
          <a:prstGeom prst="rect">
            <a:avLst/>
          </a:prstGeom>
          <a:noFill/>
          <a:ln/>
        </p:spPr>
        <p:txBody>
          <a:bodyPr wrap="square" lIns="0" tIns="0" rIns="0" bIns="0" rtlCol="0" anchor="ctr"/>
          <a:lstStyle/>
          <a:p>
            <a:pPr algn="ctr" indent="0" marL="0">
              <a:buNone/>
            </a:pPr>
            <a:r>
              <a:rPr lang="en-US" sz="2400" b="1" dirty="0">
                <a:solidFill>
                  <a:srgbClr val="C9A45C"/>
                </a:solidFill>
                <a:latin typeface="Calibri" pitchFamily="34" charset="0"/>
                <a:ea typeface="Calibri" pitchFamily="34" charset="-122"/>
                <a:cs typeface="Calibri" pitchFamily="34" charset="-120"/>
              </a:rPr>
              <a:t>›</a:t>
            </a:r>
            <a:endParaRPr lang="en-US" sz="2400" dirty="0"/>
          </a:p>
        </p:txBody>
      </p:sp>
      <p:sp>
        <p:nvSpPr>
          <p:cNvPr id="10" name="Text 8"/>
          <p:cNvSpPr txBox="1"/>
          <p:nvPr/>
        </p:nvSpPr>
        <p:spPr>
          <a:xfrm>
            <a:off x="3429000" y="1847088"/>
            <a:ext cx="4754880" cy="713232"/>
          </a:xfrm>
          <a:prstGeom prst="rect">
            <a:avLst/>
          </a:prstGeom>
          <a:noFill/>
          <a:ln/>
        </p:spPr>
        <p:txBody>
          <a:bodyPr wrap="square" lIns="0" tIns="0" rIns="0" bIns="0" rtlCol="0" anchor="ctr"/>
          <a:lstStyle/>
          <a:p>
            <a:pPr indent="0" marL="0">
              <a:buNone/>
            </a:pPr>
            <a:r>
              <a:rPr lang="en-US" sz="1250" dirty="0">
                <a:solidFill>
                  <a:srgbClr val="23232B"/>
                </a:solidFill>
                <a:latin typeface="Calibri" pitchFamily="34" charset="0"/>
                <a:ea typeface="Calibri" pitchFamily="34" charset="-122"/>
                <a:cs typeface="Calibri" pitchFamily="34" charset="-120"/>
              </a:rPr>
              <a:t>PostgreSQL schema of 6 related tables (guests, RSVPs, sign-in tokens, characters, solves, point claims) managed with Drizzle ORM and versioned migrations</a:t>
            </a:r>
            <a:endParaRPr lang="en-US" sz="1250" dirty="0"/>
          </a:p>
        </p:txBody>
      </p:sp>
      <p:sp>
        <p:nvSpPr>
          <p:cNvPr id="11" name="Text 9"/>
          <p:cNvSpPr txBox="1"/>
          <p:nvPr/>
        </p:nvSpPr>
        <p:spPr>
          <a:xfrm>
            <a:off x="8183880" y="1847088"/>
            <a:ext cx="274320" cy="713232"/>
          </a:xfrm>
          <a:prstGeom prst="rect">
            <a:avLst/>
          </a:prstGeom>
          <a:noFill/>
          <a:ln/>
        </p:spPr>
        <p:txBody>
          <a:bodyPr wrap="square" lIns="0" tIns="0" rIns="0" bIns="0" rtlCol="0" anchor="ctr"/>
          <a:lstStyle/>
          <a:p>
            <a:pPr algn="ctr" indent="0" marL="0">
              <a:buNone/>
            </a:pPr>
            <a:r>
              <a:rPr lang="en-US" sz="2400" b="1" dirty="0">
                <a:solidFill>
                  <a:srgbClr val="C9A45C"/>
                </a:solidFill>
                <a:latin typeface="Calibri" pitchFamily="34" charset="0"/>
                <a:ea typeface="Calibri" pitchFamily="34" charset="-122"/>
                <a:cs typeface="Calibri" pitchFamily="34" charset="-120"/>
              </a:rPr>
              <a:t>›</a:t>
            </a:r>
            <a:endParaRPr lang="en-US" sz="2400" dirty="0"/>
          </a:p>
        </p:txBody>
      </p:sp>
      <p:sp>
        <p:nvSpPr>
          <p:cNvPr id="12" name="Text 10"/>
          <p:cNvSpPr txBox="1"/>
          <p:nvPr/>
        </p:nvSpPr>
        <p:spPr>
          <a:xfrm>
            <a:off x="8686800" y="1847088"/>
            <a:ext cx="2834640" cy="713232"/>
          </a:xfrm>
          <a:prstGeom prst="rect">
            <a:avLst/>
          </a:prstGeom>
          <a:noFill/>
          <a:ln/>
        </p:spPr>
        <p:txBody>
          <a:bodyPr wrap="square" lIns="0" tIns="0" rIns="0" bIns="0" rtlCol="0" anchor="ctr"/>
          <a:lstStyle/>
          <a:p>
            <a:pPr indent="0" marL="0">
              <a:buNone/>
            </a:pPr>
            <a:r>
              <a:rPr lang="en-US" sz="1250" i="1" dirty="0">
                <a:solidFill>
                  <a:srgbClr val="8C2233"/>
                </a:solidFill>
                <a:latin typeface="Calibri" pitchFamily="34" charset="0"/>
                <a:ea typeface="Calibri" pitchFamily="34" charset="-122"/>
                <a:cs typeface="Calibri" pitchFamily="34" charset="-120"/>
              </a:rPr>
              <a:t>Data modeling, keys and constraints, evolving a schema safely</a:t>
            </a:r>
            <a:endParaRPr lang="en-US" sz="1250" dirty="0"/>
          </a:p>
        </p:txBody>
      </p:sp>
      <p:sp>
        <p:nvSpPr>
          <p:cNvPr id="13" name="Shape 11"/>
          <p:cNvSpPr/>
          <p:nvPr/>
        </p:nvSpPr>
        <p:spPr>
          <a:xfrm>
            <a:off x="548640" y="2642616"/>
            <a:ext cx="11091672" cy="713232"/>
          </a:xfrm>
          <a:prstGeom prst="roundRect">
            <a:avLst>
              <a:gd name="adj" fmla="val 7692"/>
            </a:avLst>
          </a:prstGeom>
          <a:solidFill>
            <a:srgbClr val="FFFFFF"/>
          </a:solidFill>
          <a:ln w="9525">
            <a:solidFill>
              <a:srgbClr val="E2DED6"/>
            </a:solidFill>
            <a:prstDash val="solid"/>
          </a:ln>
        </p:spPr>
      </p:sp>
      <p:sp>
        <p:nvSpPr>
          <p:cNvPr id="14" name="Text 12"/>
          <p:cNvSpPr txBox="1"/>
          <p:nvPr/>
        </p:nvSpPr>
        <p:spPr>
          <a:xfrm>
            <a:off x="731520" y="2642616"/>
            <a:ext cx="2194560" cy="713232"/>
          </a:xfrm>
          <a:prstGeom prst="rect">
            <a:avLst/>
          </a:prstGeom>
          <a:noFill/>
          <a:ln/>
        </p:spPr>
        <p:txBody>
          <a:bodyPr wrap="square" lIns="0" tIns="0" rIns="0" bIns="0" rtlCol="0" anchor="ctr"/>
          <a:lstStyle/>
          <a:p>
            <a:pPr indent="0" marL="0">
              <a:buNone/>
            </a:pPr>
            <a:r>
              <a:rPr lang="en-US" sz="1600" b="1" dirty="0">
                <a:solidFill>
                  <a:srgbClr val="23232B"/>
                </a:solidFill>
                <a:latin typeface="Cambria" pitchFamily="34" charset="0"/>
                <a:ea typeface="Cambria" pitchFamily="34" charset="-122"/>
                <a:cs typeface="Cambria" pitchFamily="34" charset="-120"/>
              </a:rPr>
              <a:t>APIs &amp; back end</a:t>
            </a:r>
            <a:endParaRPr lang="en-US" sz="1600" dirty="0"/>
          </a:p>
        </p:txBody>
      </p:sp>
      <p:sp>
        <p:nvSpPr>
          <p:cNvPr id="15" name="Text 13"/>
          <p:cNvSpPr txBox="1"/>
          <p:nvPr/>
        </p:nvSpPr>
        <p:spPr>
          <a:xfrm>
            <a:off x="2926080" y="2642616"/>
            <a:ext cx="274320" cy="713232"/>
          </a:xfrm>
          <a:prstGeom prst="rect">
            <a:avLst/>
          </a:prstGeom>
          <a:noFill/>
          <a:ln/>
        </p:spPr>
        <p:txBody>
          <a:bodyPr wrap="square" lIns="0" tIns="0" rIns="0" bIns="0" rtlCol="0" anchor="ctr"/>
          <a:lstStyle/>
          <a:p>
            <a:pPr algn="ctr" indent="0" marL="0">
              <a:buNone/>
            </a:pPr>
            <a:r>
              <a:rPr lang="en-US" sz="2400" b="1" dirty="0">
                <a:solidFill>
                  <a:srgbClr val="C9A45C"/>
                </a:solidFill>
                <a:latin typeface="Calibri" pitchFamily="34" charset="0"/>
                <a:ea typeface="Calibri" pitchFamily="34" charset="-122"/>
                <a:cs typeface="Calibri" pitchFamily="34" charset="-120"/>
              </a:rPr>
              <a:t>›</a:t>
            </a:r>
            <a:endParaRPr lang="en-US" sz="2400" dirty="0"/>
          </a:p>
        </p:txBody>
      </p:sp>
      <p:sp>
        <p:nvSpPr>
          <p:cNvPr id="16" name="Text 14"/>
          <p:cNvSpPr txBox="1"/>
          <p:nvPr/>
        </p:nvSpPr>
        <p:spPr>
          <a:xfrm>
            <a:off x="3429000" y="2642616"/>
            <a:ext cx="4754880" cy="713232"/>
          </a:xfrm>
          <a:prstGeom prst="rect">
            <a:avLst/>
          </a:prstGeom>
          <a:noFill/>
          <a:ln/>
        </p:spPr>
        <p:txBody>
          <a:bodyPr wrap="square" lIns="0" tIns="0" rIns="0" bIns="0" rtlCol="0" anchor="ctr"/>
          <a:lstStyle/>
          <a:p>
            <a:pPr indent="0" marL="0">
              <a:buNone/>
            </a:pPr>
            <a:r>
              <a:rPr lang="en-US" sz="1250" dirty="0">
                <a:solidFill>
                  <a:srgbClr val="23232B"/>
                </a:solidFill>
                <a:latin typeface="Calibri" pitchFamily="34" charset="0"/>
                <a:ea typeface="Calibri" pitchFamily="34" charset="-122"/>
                <a:cs typeface="Calibri" pitchFamily="34" charset="-120"/>
              </a:rPr>
              <a:t>10 API routes — RSVP, sign-in, scoring, grading, staff review — each validating input and returning proper status codes</a:t>
            </a:r>
            <a:endParaRPr lang="en-US" sz="1250" dirty="0"/>
          </a:p>
        </p:txBody>
      </p:sp>
      <p:sp>
        <p:nvSpPr>
          <p:cNvPr id="17" name="Text 15"/>
          <p:cNvSpPr txBox="1"/>
          <p:nvPr/>
        </p:nvSpPr>
        <p:spPr>
          <a:xfrm>
            <a:off x="8183880" y="2642616"/>
            <a:ext cx="274320" cy="713232"/>
          </a:xfrm>
          <a:prstGeom prst="rect">
            <a:avLst/>
          </a:prstGeom>
          <a:noFill/>
          <a:ln/>
        </p:spPr>
        <p:txBody>
          <a:bodyPr wrap="square" lIns="0" tIns="0" rIns="0" bIns="0" rtlCol="0" anchor="ctr"/>
          <a:lstStyle/>
          <a:p>
            <a:pPr algn="ctr" indent="0" marL="0">
              <a:buNone/>
            </a:pPr>
            <a:r>
              <a:rPr lang="en-US" sz="2400" b="1" dirty="0">
                <a:solidFill>
                  <a:srgbClr val="C9A45C"/>
                </a:solidFill>
                <a:latin typeface="Calibri" pitchFamily="34" charset="0"/>
                <a:ea typeface="Calibri" pitchFamily="34" charset="-122"/>
                <a:cs typeface="Calibri" pitchFamily="34" charset="-120"/>
              </a:rPr>
              <a:t>›</a:t>
            </a:r>
            <a:endParaRPr lang="en-US" sz="2400" dirty="0"/>
          </a:p>
        </p:txBody>
      </p:sp>
      <p:sp>
        <p:nvSpPr>
          <p:cNvPr id="18" name="Text 16"/>
          <p:cNvSpPr txBox="1"/>
          <p:nvPr/>
        </p:nvSpPr>
        <p:spPr>
          <a:xfrm>
            <a:off x="8686800" y="2642616"/>
            <a:ext cx="2834640" cy="713232"/>
          </a:xfrm>
          <a:prstGeom prst="rect">
            <a:avLst/>
          </a:prstGeom>
          <a:noFill/>
          <a:ln/>
        </p:spPr>
        <p:txBody>
          <a:bodyPr wrap="square" lIns="0" tIns="0" rIns="0" bIns="0" rtlCol="0" anchor="ctr"/>
          <a:lstStyle/>
          <a:p>
            <a:pPr indent="0" marL="0">
              <a:buNone/>
            </a:pPr>
            <a:r>
              <a:rPr lang="en-US" sz="1250" i="1" dirty="0">
                <a:solidFill>
                  <a:srgbClr val="8C2233"/>
                </a:solidFill>
                <a:latin typeface="Calibri" pitchFamily="34" charset="0"/>
                <a:ea typeface="Calibri" pitchFamily="34" charset="-122"/>
                <a:cs typeface="Calibri" pitchFamily="34" charset="-120"/>
              </a:rPr>
              <a:t>Designing the contract between front end and back end</a:t>
            </a:r>
            <a:endParaRPr lang="en-US" sz="1250" dirty="0"/>
          </a:p>
        </p:txBody>
      </p:sp>
      <p:sp>
        <p:nvSpPr>
          <p:cNvPr id="19" name="Shape 17"/>
          <p:cNvSpPr/>
          <p:nvPr/>
        </p:nvSpPr>
        <p:spPr>
          <a:xfrm>
            <a:off x="548640" y="3438144"/>
            <a:ext cx="11091672" cy="713232"/>
          </a:xfrm>
          <a:prstGeom prst="roundRect">
            <a:avLst>
              <a:gd name="adj" fmla="val 7692"/>
            </a:avLst>
          </a:prstGeom>
          <a:solidFill>
            <a:srgbClr val="FFFFFF"/>
          </a:solidFill>
          <a:ln w="9525">
            <a:solidFill>
              <a:srgbClr val="E2DED6"/>
            </a:solidFill>
            <a:prstDash val="solid"/>
          </a:ln>
        </p:spPr>
      </p:sp>
      <p:sp>
        <p:nvSpPr>
          <p:cNvPr id="20" name="Text 18"/>
          <p:cNvSpPr txBox="1"/>
          <p:nvPr/>
        </p:nvSpPr>
        <p:spPr>
          <a:xfrm>
            <a:off x="731520" y="3438144"/>
            <a:ext cx="2194560" cy="713232"/>
          </a:xfrm>
          <a:prstGeom prst="rect">
            <a:avLst/>
          </a:prstGeom>
          <a:noFill/>
          <a:ln/>
        </p:spPr>
        <p:txBody>
          <a:bodyPr wrap="square" lIns="0" tIns="0" rIns="0" bIns="0" rtlCol="0" anchor="ctr"/>
          <a:lstStyle/>
          <a:p>
            <a:pPr indent="0" marL="0">
              <a:buNone/>
            </a:pPr>
            <a:r>
              <a:rPr lang="en-US" sz="1600" b="1" dirty="0">
                <a:solidFill>
                  <a:srgbClr val="23232B"/>
                </a:solidFill>
                <a:latin typeface="Cambria" pitchFamily="34" charset="0"/>
                <a:ea typeface="Cambria" pitchFamily="34" charset="-122"/>
                <a:cs typeface="Cambria" pitchFamily="34" charset="-120"/>
              </a:rPr>
              <a:t>Security &amp; auth</a:t>
            </a:r>
            <a:endParaRPr lang="en-US" sz="1600" dirty="0"/>
          </a:p>
        </p:txBody>
      </p:sp>
      <p:sp>
        <p:nvSpPr>
          <p:cNvPr id="21" name="Text 19"/>
          <p:cNvSpPr txBox="1"/>
          <p:nvPr/>
        </p:nvSpPr>
        <p:spPr>
          <a:xfrm>
            <a:off x="2926080" y="3438144"/>
            <a:ext cx="274320" cy="713232"/>
          </a:xfrm>
          <a:prstGeom prst="rect">
            <a:avLst/>
          </a:prstGeom>
          <a:noFill/>
          <a:ln/>
        </p:spPr>
        <p:txBody>
          <a:bodyPr wrap="square" lIns="0" tIns="0" rIns="0" bIns="0" rtlCol="0" anchor="ctr"/>
          <a:lstStyle/>
          <a:p>
            <a:pPr algn="ctr" indent="0" marL="0">
              <a:buNone/>
            </a:pPr>
            <a:r>
              <a:rPr lang="en-US" sz="2400" b="1" dirty="0">
                <a:solidFill>
                  <a:srgbClr val="C9A45C"/>
                </a:solidFill>
                <a:latin typeface="Calibri" pitchFamily="34" charset="0"/>
                <a:ea typeface="Calibri" pitchFamily="34" charset="-122"/>
                <a:cs typeface="Calibri" pitchFamily="34" charset="-120"/>
              </a:rPr>
              <a:t>›</a:t>
            </a:r>
            <a:endParaRPr lang="en-US" sz="2400" dirty="0"/>
          </a:p>
        </p:txBody>
      </p:sp>
      <p:sp>
        <p:nvSpPr>
          <p:cNvPr id="22" name="Text 20"/>
          <p:cNvSpPr txBox="1"/>
          <p:nvPr/>
        </p:nvSpPr>
        <p:spPr>
          <a:xfrm>
            <a:off x="3429000" y="3438144"/>
            <a:ext cx="4754880" cy="713232"/>
          </a:xfrm>
          <a:prstGeom prst="rect">
            <a:avLst/>
          </a:prstGeom>
          <a:noFill/>
          <a:ln/>
        </p:spPr>
        <p:txBody>
          <a:bodyPr wrap="square" lIns="0" tIns="0" rIns="0" bIns="0" rtlCol="0" anchor="ctr"/>
          <a:lstStyle/>
          <a:p>
            <a:pPr indent="0" marL="0">
              <a:buNone/>
            </a:pPr>
            <a:r>
              <a:rPr lang="en-US" sz="1250" dirty="0">
                <a:solidFill>
                  <a:srgbClr val="23232B"/>
                </a:solidFill>
                <a:latin typeface="Calibri" pitchFamily="34" charset="0"/>
                <a:ea typeface="Calibri" pitchFamily="34" charset="-122"/>
                <a:cs typeface="Calibri" pitchFamily="34" charset="-120"/>
              </a:rPr>
              <a:t>Passwordless magic-link sign-in (only token hashes stored), HMAC-signed httpOnly session cookies, answers checked server-side only</a:t>
            </a:r>
            <a:endParaRPr lang="en-US" sz="1250" dirty="0"/>
          </a:p>
        </p:txBody>
      </p:sp>
      <p:sp>
        <p:nvSpPr>
          <p:cNvPr id="23" name="Text 21"/>
          <p:cNvSpPr txBox="1"/>
          <p:nvPr/>
        </p:nvSpPr>
        <p:spPr>
          <a:xfrm>
            <a:off x="8183880" y="3438144"/>
            <a:ext cx="274320" cy="713232"/>
          </a:xfrm>
          <a:prstGeom prst="rect">
            <a:avLst/>
          </a:prstGeom>
          <a:noFill/>
          <a:ln/>
        </p:spPr>
        <p:txBody>
          <a:bodyPr wrap="square" lIns="0" tIns="0" rIns="0" bIns="0" rtlCol="0" anchor="ctr"/>
          <a:lstStyle/>
          <a:p>
            <a:pPr algn="ctr" indent="0" marL="0">
              <a:buNone/>
            </a:pPr>
            <a:r>
              <a:rPr lang="en-US" sz="2400" b="1" dirty="0">
                <a:solidFill>
                  <a:srgbClr val="C9A45C"/>
                </a:solidFill>
                <a:latin typeface="Calibri" pitchFamily="34" charset="0"/>
                <a:ea typeface="Calibri" pitchFamily="34" charset="-122"/>
                <a:cs typeface="Calibri" pitchFamily="34" charset="-120"/>
              </a:rPr>
              <a:t>›</a:t>
            </a:r>
            <a:endParaRPr lang="en-US" sz="2400" dirty="0"/>
          </a:p>
        </p:txBody>
      </p:sp>
      <p:sp>
        <p:nvSpPr>
          <p:cNvPr id="24" name="Text 22"/>
          <p:cNvSpPr txBox="1"/>
          <p:nvPr/>
        </p:nvSpPr>
        <p:spPr>
          <a:xfrm>
            <a:off x="8686800" y="3438144"/>
            <a:ext cx="2834640" cy="713232"/>
          </a:xfrm>
          <a:prstGeom prst="rect">
            <a:avLst/>
          </a:prstGeom>
          <a:noFill/>
          <a:ln/>
        </p:spPr>
        <p:txBody>
          <a:bodyPr wrap="square" lIns="0" tIns="0" rIns="0" bIns="0" rtlCol="0" anchor="ctr"/>
          <a:lstStyle/>
          <a:p>
            <a:pPr indent="0" marL="0">
              <a:buNone/>
            </a:pPr>
            <a:r>
              <a:rPr lang="en-US" sz="1250" i="1" dirty="0">
                <a:solidFill>
                  <a:srgbClr val="8C2233"/>
                </a:solidFill>
                <a:latin typeface="Calibri" pitchFamily="34" charset="0"/>
                <a:ea typeface="Calibri" pitchFamily="34" charset="-122"/>
                <a:cs typeface="Calibri" pitchFamily="34" charset="-120"/>
              </a:rPr>
              <a:t>Deciding what must never reach the browser</a:t>
            </a:r>
            <a:endParaRPr lang="en-US" sz="1250" dirty="0"/>
          </a:p>
        </p:txBody>
      </p:sp>
      <p:sp>
        <p:nvSpPr>
          <p:cNvPr id="25" name="Shape 23"/>
          <p:cNvSpPr/>
          <p:nvPr/>
        </p:nvSpPr>
        <p:spPr>
          <a:xfrm>
            <a:off x="548640" y="4233672"/>
            <a:ext cx="11091672" cy="713232"/>
          </a:xfrm>
          <a:prstGeom prst="roundRect">
            <a:avLst>
              <a:gd name="adj" fmla="val 7692"/>
            </a:avLst>
          </a:prstGeom>
          <a:solidFill>
            <a:srgbClr val="FFFFFF"/>
          </a:solidFill>
          <a:ln w="9525">
            <a:solidFill>
              <a:srgbClr val="E2DED6"/>
            </a:solidFill>
            <a:prstDash val="solid"/>
          </a:ln>
        </p:spPr>
      </p:sp>
      <p:sp>
        <p:nvSpPr>
          <p:cNvPr id="26" name="Text 24"/>
          <p:cNvSpPr txBox="1"/>
          <p:nvPr/>
        </p:nvSpPr>
        <p:spPr>
          <a:xfrm>
            <a:off x="731520" y="4233672"/>
            <a:ext cx="2194560" cy="713232"/>
          </a:xfrm>
          <a:prstGeom prst="rect">
            <a:avLst/>
          </a:prstGeom>
          <a:noFill/>
          <a:ln/>
        </p:spPr>
        <p:txBody>
          <a:bodyPr wrap="square" lIns="0" tIns="0" rIns="0" bIns="0" rtlCol="0" anchor="ctr"/>
          <a:lstStyle/>
          <a:p>
            <a:pPr indent="0" marL="0">
              <a:buNone/>
            </a:pPr>
            <a:r>
              <a:rPr lang="en-US" sz="1600" b="1" dirty="0">
                <a:solidFill>
                  <a:srgbClr val="23232B"/>
                </a:solidFill>
                <a:latin typeface="Cambria" pitchFamily="34" charset="0"/>
                <a:ea typeface="Cambria" pitchFamily="34" charset="-122"/>
                <a:cs typeface="Cambria" pitchFamily="34" charset="-120"/>
              </a:rPr>
              <a:t>Front end &amp; state</a:t>
            </a:r>
            <a:endParaRPr lang="en-US" sz="1600" dirty="0"/>
          </a:p>
        </p:txBody>
      </p:sp>
      <p:sp>
        <p:nvSpPr>
          <p:cNvPr id="27" name="Text 25"/>
          <p:cNvSpPr txBox="1"/>
          <p:nvPr/>
        </p:nvSpPr>
        <p:spPr>
          <a:xfrm>
            <a:off x="2926080" y="4233672"/>
            <a:ext cx="274320" cy="713232"/>
          </a:xfrm>
          <a:prstGeom prst="rect">
            <a:avLst/>
          </a:prstGeom>
          <a:noFill/>
          <a:ln/>
        </p:spPr>
        <p:txBody>
          <a:bodyPr wrap="square" lIns="0" tIns="0" rIns="0" bIns="0" rtlCol="0" anchor="ctr"/>
          <a:lstStyle/>
          <a:p>
            <a:pPr algn="ctr" indent="0" marL="0">
              <a:buNone/>
            </a:pPr>
            <a:r>
              <a:rPr lang="en-US" sz="2400" b="1" dirty="0">
                <a:solidFill>
                  <a:srgbClr val="C9A45C"/>
                </a:solidFill>
                <a:latin typeface="Calibri" pitchFamily="34" charset="0"/>
                <a:ea typeface="Calibri" pitchFamily="34" charset="-122"/>
                <a:cs typeface="Calibri" pitchFamily="34" charset="-120"/>
              </a:rPr>
              <a:t>›</a:t>
            </a:r>
            <a:endParaRPr lang="en-US" sz="2400" dirty="0"/>
          </a:p>
        </p:txBody>
      </p:sp>
      <p:sp>
        <p:nvSpPr>
          <p:cNvPr id="28" name="Text 26"/>
          <p:cNvSpPr txBox="1"/>
          <p:nvPr/>
        </p:nvSpPr>
        <p:spPr>
          <a:xfrm>
            <a:off x="3429000" y="4233672"/>
            <a:ext cx="4754880" cy="713232"/>
          </a:xfrm>
          <a:prstGeom prst="rect">
            <a:avLst/>
          </a:prstGeom>
          <a:noFill/>
          <a:ln/>
        </p:spPr>
        <p:txBody>
          <a:bodyPr wrap="square" lIns="0" tIns="0" rIns="0" bIns="0" rtlCol="0" anchor="ctr"/>
          <a:lstStyle/>
          <a:p>
            <a:pPr indent="0" marL="0">
              <a:buNone/>
            </a:pPr>
            <a:r>
              <a:rPr lang="en-US" sz="1250" dirty="0">
                <a:solidFill>
                  <a:srgbClr val="23232B"/>
                </a:solidFill>
                <a:latin typeface="Calibri" pitchFamily="34" charset="0"/>
                <a:ea typeface="Calibri" pitchFamily="34" charset="-122"/>
                <a:cs typeface="Calibri" pitchFamily="34" charset="-120"/>
              </a:rPr>
              <a:t>React + TypeScript UI with a simulated terminal; progress survives page changes and restores on a new device from the server</a:t>
            </a:r>
            <a:endParaRPr lang="en-US" sz="1250" dirty="0"/>
          </a:p>
        </p:txBody>
      </p:sp>
      <p:sp>
        <p:nvSpPr>
          <p:cNvPr id="29" name="Text 27"/>
          <p:cNvSpPr txBox="1"/>
          <p:nvPr/>
        </p:nvSpPr>
        <p:spPr>
          <a:xfrm>
            <a:off x="8183880" y="4233672"/>
            <a:ext cx="274320" cy="713232"/>
          </a:xfrm>
          <a:prstGeom prst="rect">
            <a:avLst/>
          </a:prstGeom>
          <a:noFill/>
          <a:ln/>
        </p:spPr>
        <p:txBody>
          <a:bodyPr wrap="square" lIns="0" tIns="0" rIns="0" bIns="0" rtlCol="0" anchor="ctr"/>
          <a:lstStyle/>
          <a:p>
            <a:pPr algn="ctr" indent="0" marL="0">
              <a:buNone/>
            </a:pPr>
            <a:r>
              <a:rPr lang="en-US" sz="2400" b="1" dirty="0">
                <a:solidFill>
                  <a:srgbClr val="C9A45C"/>
                </a:solidFill>
                <a:latin typeface="Calibri" pitchFamily="34" charset="0"/>
                <a:ea typeface="Calibri" pitchFamily="34" charset="-122"/>
                <a:cs typeface="Calibri" pitchFamily="34" charset="-120"/>
              </a:rPr>
              <a:t>›</a:t>
            </a:r>
            <a:endParaRPr lang="en-US" sz="2400" dirty="0"/>
          </a:p>
        </p:txBody>
      </p:sp>
      <p:sp>
        <p:nvSpPr>
          <p:cNvPr id="30" name="Text 28"/>
          <p:cNvSpPr txBox="1"/>
          <p:nvPr/>
        </p:nvSpPr>
        <p:spPr>
          <a:xfrm>
            <a:off x="8686800" y="4233672"/>
            <a:ext cx="2834640" cy="713232"/>
          </a:xfrm>
          <a:prstGeom prst="rect">
            <a:avLst/>
          </a:prstGeom>
          <a:noFill/>
          <a:ln/>
        </p:spPr>
        <p:txBody>
          <a:bodyPr wrap="square" lIns="0" tIns="0" rIns="0" bIns="0" rtlCol="0" anchor="ctr"/>
          <a:lstStyle/>
          <a:p>
            <a:pPr indent="0" marL="0">
              <a:buNone/>
            </a:pPr>
            <a:r>
              <a:rPr lang="en-US" sz="1250" i="1" dirty="0">
                <a:solidFill>
                  <a:srgbClr val="8C2233"/>
                </a:solidFill>
                <a:latin typeface="Calibri" pitchFamily="34" charset="0"/>
                <a:ea typeface="Calibri" pitchFamily="34" charset="-122"/>
                <a:cs typeface="Calibri" pitchFamily="34" charset="-120"/>
              </a:rPr>
              <a:t>Component design; client vs. server as source of truth</a:t>
            </a:r>
            <a:endParaRPr lang="en-US" sz="1250" dirty="0"/>
          </a:p>
        </p:txBody>
      </p:sp>
      <p:sp>
        <p:nvSpPr>
          <p:cNvPr id="31" name="Shape 29"/>
          <p:cNvSpPr/>
          <p:nvPr/>
        </p:nvSpPr>
        <p:spPr>
          <a:xfrm>
            <a:off x="548640" y="5029200"/>
            <a:ext cx="11091672" cy="713232"/>
          </a:xfrm>
          <a:prstGeom prst="roundRect">
            <a:avLst>
              <a:gd name="adj" fmla="val 7692"/>
            </a:avLst>
          </a:prstGeom>
          <a:solidFill>
            <a:srgbClr val="FFFFFF"/>
          </a:solidFill>
          <a:ln w="9525">
            <a:solidFill>
              <a:srgbClr val="E2DED6"/>
            </a:solidFill>
            <a:prstDash val="solid"/>
          </a:ln>
        </p:spPr>
      </p:sp>
      <p:sp>
        <p:nvSpPr>
          <p:cNvPr id="32" name="Text 30"/>
          <p:cNvSpPr txBox="1"/>
          <p:nvPr/>
        </p:nvSpPr>
        <p:spPr>
          <a:xfrm>
            <a:off x="731520" y="5029200"/>
            <a:ext cx="2194560" cy="713232"/>
          </a:xfrm>
          <a:prstGeom prst="rect">
            <a:avLst/>
          </a:prstGeom>
          <a:noFill/>
          <a:ln/>
        </p:spPr>
        <p:txBody>
          <a:bodyPr wrap="square" lIns="0" tIns="0" rIns="0" bIns="0" rtlCol="0" anchor="ctr"/>
          <a:lstStyle/>
          <a:p>
            <a:pPr indent="0" marL="0">
              <a:buNone/>
            </a:pPr>
            <a:r>
              <a:rPr lang="en-US" sz="1600" b="1" dirty="0">
                <a:solidFill>
                  <a:srgbClr val="23232B"/>
                </a:solidFill>
                <a:latin typeface="Cambria" pitchFamily="34" charset="0"/>
                <a:ea typeface="Cambria" pitchFamily="34" charset="-122"/>
                <a:cs typeface="Cambria" pitchFamily="34" charset="-120"/>
              </a:rPr>
              <a:t>SDLC &amp; Git</a:t>
            </a:r>
            <a:endParaRPr lang="en-US" sz="1600" dirty="0"/>
          </a:p>
        </p:txBody>
      </p:sp>
      <p:sp>
        <p:nvSpPr>
          <p:cNvPr id="33" name="Text 31"/>
          <p:cNvSpPr txBox="1"/>
          <p:nvPr/>
        </p:nvSpPr>
        <p:spPr>
          <a:xfrm>
            <a:off x="2926080" y="5029200"/>
            <a:ext cx="274320" cy="713232"/>
          </a:xfrm>
          <a:prstGeom prst="rect">
            <a:avLst/>
          </a:prstGeom>
          <a:noFill/>
          <a:ln/>
        </p:spPr>
        <p:txBody>
          <a:bodyPr wrap="square" lIns="0" tIns="0" rIns="0" bIns="0" rtlCol="0" anchor="ctr"/>
          <a:lstStyle/>
          <a:p>
            <a:pPr algn="ctr" indent="0" marL="0">
              <a:buNone/>
            </a:pPr>
            <a:r>
              <a:rPr lang="en-US" sz="2400" b="1" dirty="0">
                <a:solidFill>
                  <a:srgbClr val="C9A45C"/>
                </a:solidFill>
                <a:latin typeface="Calibri" pitchFamily="34" charset="0"/>
                <a:ea typeface="Calibri" pitchFamily="34" charset="-122"/>
                <a:cs typeface="Calibri" pitchFamily="34" charset="-120"/>
              </a:rPr>
              <a:t>›</a:t>
            </a:r>
            <a:endParaRPr lang="en-US" sz="2400" dirty="0"/>
          </a:p>
        </p:txBody>
      </p:sp>
      <p:sp>
        <p:nvSpPr>
          <p:cNvPr id="34" name="Text 32"/>
          <p:cNvSpPr txBox="1"/>
          <p:nvPr/>
        </p:nvSpPr>
        <p:spPr>
          <a:xfrm>
            <a:off x="3429000" y="5029200"/>
            <a:ext cx="4754880" cy="713232"/>
          </a:xfrm>
          <a:prstGeom prst="rect">
            <a:avLst/>
          </a:prstGeom>
          <a:noFill/>
          <a:ln/>
        </p:spPr>
        <p:txBody>
          <a:bodyPr wrap="square" lIns="0" tIns="0" rIns="0" bIns="0" rtlCol="0" anchor="ctr"/>
          <a:lstStyle/>
          <a:p>
            <a:pPr indent="0" marL="0">
              <a:buNone/>
            </a:pPr>
            <a:r>
              <a:rPr lang="en-US" sz="1250" dirty="0">
                <a:solidFill>
                  <a:srgbClr val="23232B"/>
                </a:solidFill>
                <a:latin typeface="Calibri" pitchFamily="34" charset="0"/>
                <a:ea typeface="Calibri" pitchFamily="34" charset="-122"/>
                <a:cs typeface="Calibri" pitchFamily="34" charset="-120"/>
              </a:rPr>
              <a:t>Work split into feature branches, merged through 11 pull requests; lint, type-check and a self-test script gate changes</a:t>
            </a:r>
            <a:endParaRPr lang="en-US" sz="1250" dirty="0"/>
          </a:p>
        </p:txBody>
      </p:sp>
      <p:sp>
        <p:nvSpPr>
          <p:cNvPr id="35" name="Text 33"/>
          <p:cNvSpPr txBox="1"/>
          <p:nvPr/>
        </p:nvSpPr>
        <p:spPr>
          <a:xfrm>
            <a:off x="8183880" y="5029200"/>
            <a:ext cx="274320" cy="713232"/>
          </a:xfrm>
          <a:prstGeom prst="rect">
            <a:avLst/>
          </a:prstGeom>
          <a:noFill/>
          <a:ln/>
        </p:spPr>
        <p:txBody>
          <a:bodyPr wrap="square" lIns="0" tIns="0" rIns="0" bIns="0" rtlCol="0" anchor="ctr"/>
          <a:lstStyle/>
          <a:p>
            <a:pPr algn="ctr" indent="0" marL="0">
              <a:buNone/>
            </a:pPr>
            <a:r>
              <a:rPr lang="en-US" sz="2400" b="1" dirty="0">
                <a:solidFill>
                  <a:srgbClr val="C9A45C"/>
                </a:solidFill>
                <a:latin typeface="Calibri" pitchFamily="34" charset="0"/>
                <a:ea typeface="Calibri" pitchFamily="34" charset="-122"/>
                <a:cs typeface="Calibri" pitchFamily="34" charset="-120"/>
              </a:rPr>
              <a:t>›</a:t>
            </a:r>
            <a:endParaRPr lang="en-US" sz="2400" dirty="0"/>
          </a:p>
        </p:txBody>
      </p:sp>
      <p:sp>
        <p:nvSpPr>
          <p:cNvPr id="36" name="Text 34"/>
          <p:cNvSpPr txBox="1"/>
          <p:nvPr/>
        </p:nvSpPr>
        <p:spPr>
          <a:xfrm>
            <a:off x="8686800" y="5029200"/>
            <a:ext cx="2834640" cy="713232"/>
          </a:xfrm>
          <a:prstGeom prst="rect">
            <a:avLst/>
          </a:prstGeom>
          <a:noFill/>
          <a:ln/>
        </p:spPr>
        <p:txBody>
          <a:bodyPr wrap="square" lIns="0" tIns="0" rIns="0" bIns="0" rtlCol="0" anchor="ctr"/>
          <a:lstStyle/>
          <a:p>
            <a:pPr indent="0" marL="0">
              <a:buNone/>
            </a:pPr>
            <a:r>
              <a:rPr lang="en-US" sz="1250" i="1" dirty="0">
                <a:solidFill>
                  <a:srgbClr val="8C2233"/>
                </a:solidFill>
                <a:latin typeface="Calibri" pitchFamily="34" charset="0"/>
                <a:ea typeface="Calibri" pitchFamily="34" charset="-122"/>
                <a:cs typeface="Calibri" pitchFamily="34" charset="-120"/>
              </a:rPr>
              <a:t>Small increments, review, integration, debugging</a:t>
            </a:r>
            <a:endParaRPr lang="en-US" sz="1250" dirty="0"/>
          </a:p>
        </p:txBody>
      </p:sp>
      <p:sp>
        <p:nvSpPr>
          <p:cNvPr id="37" name="Shape 35"/>
          <p:cNvSpPr/>
          <p:nvPr/>
        </p:nvSpPr>
        <p:spPr>
          <a:xfrm>
            <a:off x="548640" y="5843016"/>
            <a:ext cx="11091672" cy="749808"/>
          </a:xfrm>
          <a:prstGeom prst="roundRect">
            <a:avLst>
              <a:gd name="adj" fmla="val 7317"/>
            </a:avLst>
          </a:prstGeom>
          <a:solidFill>
            <a:srgbClr val="121217"/>
          </a:solidFill>
          <a:ln w="12700">
            <a:solidFill>
              <a:srgbClr val="121217"/>
            </a:solidFill>
            <a:prstDash val="solid"/>
          </a:ln>
        </p:spPr>
      </p:sp>
      <p:sp>
        <p:nvSpPr>
          <p:cNvPr id="38" name="Text 36"/>
          <p:cNvSpPr txBox="1"/>
          <p:nvPr/>
        </p:nvSpPr>
        <p:spPr>
          <a:xfrm>
            <a:off x="777240" y="5843016"/>
            <a:ext cx="2377440" cy="749808"/>
          </a:xfrm>
          <a:prstGeom prst="rect">
            <a:avLst/>
          </a:prstGeom>
          <a:noFill/>
          <a:ln/>
        </p:spPr>
        <p:txBody>
          <a:bodyPr wrap="square" lIns="0" tIns="0" rIns="0" bIns="0" rtlCol="0" anchor="ctr"/>
          <a:lstStyle/>
          <a:p>
            <a:pPr indent="0" marL="0">
              <a:buNone/>
            </a:pPr>
            <a:r>
              <a:rPr lang="en-US" sz="1600" b="1" dirty="0">
                <a:solidFill>
                  <a:srgbClr val="C9A45C"/>
                </a:solidFill>
                <a:latin typeface="Cambria" pitchFamily="34" charset="0"/>
                <a:ea typeface="Cambria" pitchFamily="34" charset="-122"/>
                <a:cs typeface="Cambria" pitchFamily="34" charset="-120"/>
              </a:rPr>
              <a:t>The app teaches back.</a:t>
            </a:r>
            <a:endParaRPr lang="en-US" sz="1600" dirty="0"/>
          </a:p>
        </p:txBody>
      </p:sp>
      <p:sp>
        <p:nvSpPr>
          <p:cNvPr id="39" name="Text 37"/>
          <p:cNvSpPr txBox="1"/>
          <p:nvPr/>
        </p:nvSpPr>
        <p:spPr>
          <a:xfrm>
            <a:off x="3154680" y="5843016"/>
            <a:ext cx="8321040" cy="749808"/>
          </a:xfrm>
          <a:prstGeom prst="rect">
            <a:avLst/>
          </a:prstGeom>
          <a:noFill/>
          <a:ln/>
        </p:spPr>
        <p:txBody>
          <a:bodyPr wrap="square" lIns="0" tIns="0" rIns="0" bIns="0" rtlCol="0" anchor="ctr"/>
          <a:lstStyle/>
          <a:p>
            <a:pPr indent="0" marL="0">
              <a:buNone/>
            </a:pPr>
            <a:r>
              <a:rPr lang="en-US" sz="1250" dirty="0">
                <a:solidFill>
                  <a:srgbClr val="EDEAE3"/>
                </a:solidFill>
                <a:latin typeface="Calibri" pitchFamily="34" charset="0"/>
                <a:ea typeface="Calibri" pitchFamily="34" charset="-122"/>
                <a:cs typeface="Calibri" pitchFamily="34" charset="-120"/>
              </a:rPr>
              <a:t>Its “Restoration Bench” is 12 hands-on labs graded by the server — reverting a bad Git commit, resolving a merge conflict, fixing a Dockerfile, CI quality gates, SQL, JWT, IAM, OWASP access control, Kafka ordering — built from the same topics we train 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685800"/>
          </a:xfrm>
          <a:prstGeom prst="rect">
            <a:avLst/>
          </a:prstGeom>
          <a:noFill/>
          <a:ln/>
        </p:spPr>
        <p:txBody>
          <a:bodyPr wrap="square" lIns="0" tIns="0" rIns="0" bIns="0" rtlCol="0" anchor="ctr"/>
          <a:lstStyle/>
          <a:p>
            <a:pPr indent="0" marL="0">
              <a:buNone/>
            </a:pPr>
            <a:r>
              <a:rPr lang="en-US" sz="3600" b="1" dirty="0">
                <a:solidFill>
                  <a:srgbClr val="23232B"/>
                </a:solidFill>
                <a:latin typeface="Cambria" pitchFamily="34" charset="0"/>
                <a:ea typeface="Cambria" pitchFamily="34" charset="-122"/>
                <a:cs typeface="Cambria" pitchFamily="34" charset="-120"/>
              </a:rPr>
              <a:t>More than a technical project</a:t>
            </a:r>
            <a:endParaRPr lang="en-US" sz="3600" dirty="0"/>
          </a:p>
        </p:txBody>
      </p:sp>
      <p:sp>
        <p:nvSpPr>
          <p:cNvPr id="3" name="Text 1"/>
          <p:cNvSpPr txBox="1"/>
          <p:nvPr/>
        </p:nvSpPr>
        <p:spPr>
          <a:xfrm>
            <a:off x="548640" y="1024128"/>
            <a:ext cx="10972800" cy="320040"/>
          </a:xfrm>
          <a:prstGeom prst="rect">
            <a:avLst/>
          </a:prstGeom>
          <a:noFill/>
          <a:ln/>
        </p:spPr>
        <p:txBody>
          <a:bodyPr wrap="square" lIns="0" tIns="0" rIns="0" bIns="0" rtlCol="0" anchor="ctr"/>
          <a:lstStyle/>
          <a:p>
            <a:pPr indent="0" marL="0">
              <a:buNone/>
            </a:pPr>
            <a:r>
              <a:rPr lang="en-US" sz="1500" dirty="0">
                <a:solidFill>
                  <a:srgbClr val="6B6B76"/>
                </a:solidFill>
                <a:latin typeface="Calibri" pitchFamily="34" charset="0"/>
                <a:ea typeface="Calibri" pitchFamily="34" charset="-122"/>
                <a:cs typeface="Calibri" pitchFamily="34" charset="-120"/>
              </a:rPr>
              <a:t>The same project delivers value twice.</a:t>
            </a:r>
            <a:endParaRPr lang="en-US" sz="1500" dirty="0"/>
          </a:p>
        </p:txBody>
      </p:sp>
      <p:sp>
        <p:nvSpPr>
          <p:cNvPr id="4" name="Shape 2"/>
          <p:cNvSpPr/>
          <p:nvPr/>
        </p:nvSpPr>
        <p:spPr>
          <a:xfrm>
            <a:off x="548640" y="1645920"/>
            <a:ext cx="5120640" cy="3566160"/>
          </a:xfrm>
          <a:prstGeom prst="roundRect">
            <a:avLst>
              <a:gd name="adj" fmla="val 2051"/>
            </a:avLst>
          </a:prstGeom>
          <a:solidFill>
            <a:srgbClr val="FFFFFF"/>
          </a:solidFill>
          <a:ln w="9525">
            <a:solidFill>
              <a:srgbClr val="E2DED6"/>
            </a:solidFill>
            <a:prstDash val="solid"/>
          </a:ln>
        </p:spPr>
      </p:sp>
      <p:sp>
        <p:nvSpPr>
          <p:cNvPr id="5" name="Text 3"/>
          <p:cNvSpPr txBox="1"/>
          <p:nvPr/>
        </p:nvSpPr>
        <p:spPr>
          <a:xfrm>
            <a:off x="960120" y="1874520"/>
            <a:ext cx="4389120" cy="274320"/>
          </a:xfrm>
          <a:prstGeom prst="rect">
            <a:avLst/>
          </a:prstGeom>
          <a:noFill/>
          <a:ln/>
        </p:spPr>
        <p:txBody>
          <a:bodyPr wrap="square" lIns="0" tIns="0" rIns="0" bIns="0" rtlCol="0" anchor="ctr"/>
          <a:lstStyle/>
          <a:p>
            <a:pPr indent="0" marL="0">
              <a:buNone/>
            </a:pPr>
            <a:r>
              <a:rPr lang="en-US" sz="1200" b="1" spc="300" kern="0" dirty="0">
                <a:solidFill>
                  <a:srgbClr val="8C2233"/>
                </a:solidFill>
                <a:latin typeface="Calibri" pitchFamily="34" charset="0"/>
                <a:ea typeface="Calibri" pitchFamily="34" charset="-122"/>
                <a:cs typeface="Calibri" pitchFamily="34" charset="-120"/>
              </a:rPr>
              <a:t>THE LEARNING</a:t>
            </a:r>
            <a:endParaRPr lang="en-US" sz="1200" dirty="0"/>
          </a:p>
        </p:txBody>
      </p:sp>
      <p:sp>
        <p:nvSpPr>
          <p:cNvPr id="6" name="Text 4"/>
          <p:cNvSpPr txBox="1"/>
          <p:nvPr/>
        </p:nvSpPr>
        <p:spPr>
          <a:xfrm>
            <a:off x="960120" y="2194560"/>
            <a:ext cx="4389120" cy="640080"/>
          </a:xfrm>
          <a:prstGeom prst="rect">
            <a:avLst/>
          </a:prstGeom>
          <a:noFill/>
          <a:ln/>
        </p:spPr>
        <p:txBody>
          <a:bodyPr wrap="square" lIns="0" tIns="0" rIns="0" bIns="0" rtlCol="0" anchor="ctr"/>
          <a:lstStyle/>
          <a:p>
            <a:pPr indent="0" marL="0">
              <a:buNone/>
            </a:pPr>
            <a:r>
              <a:rPr lang="en-US" sz="3000" b="1" dirty="0">
                <a:solidFill>
                  <a:srgbClr val="23232B"/>
                </a:solidFill>
                <a:latin typeface="Cambria" pitchFamily="34" charset="0"/>
                <a:ea typeface="Cambria" pitchFamily="34" charset="-122"/>
                <a:cs typeface="Cambria" pitchFamily="34" charset="-120"/>
              </a:rPr>
              <a:t>Build it</a:t>
            </a:r>
            <a:endParaRPr lang="en-US" sz="3000" dirty="0"/>
          </a:p>
        </p:txBody>
      </p:sp>
      <p:sp>
        <p:nvSpPr>
          <p:cNvPr id="7" name="Text 5"/>
          <p:cNvSpPr txBox="1"/>
          <p:nvPr/>
        </p:nvSpPr>
        <p:spPr>
          <a:xfrm>
            <a:off x="960120" y="2926080"/>
            <a:ext cx="4434840" cy="2103120"/>
          </a:xfrm>
          <a:prstGeom prst="rect">
            <a:avLst/>
          </a:prstGeom>
          <a:noFill/>
          <a:ln/>
        </p:spPr>
        <p:txBody>
          <a:bodyPr wrap="square" lIns="0" tIns="0" rIns="0" bIns="0" rtlCol="0" anchor="t"/>
          <a:lstStyle/>
          <a:p>
            <a:pPr marL="228600" indent="-228600">
              <a:spcAft>
                <a:spcPts val="700"/>
              </a:spcAft>
              <a:buSzPct val="100000"/>
              <a:buChar char="•"/>
            </a:pPr>
            <a:r>
              <a:rPr lang="en-US" sz="1550" dirty="0">
                <a:solidFill>
                  <a:srgbClr val="23232B"/>
                </a:solidFill>
                <a:latin typeface="Calibri" pitchFamily="34" charset="0"/>
                <a:ea typeface="Calibri" pitchFamily="34" charset="-122"/>
                <a:cs typeface="Calibri" pitchFamily="34" charset="-120"/>
              </a:rPr>
              <a:t>Own a feature from requirement to release</a:t>
            </a:r>
            <a:endParaRPr lang="en-US" sz="1550" dirty="0"/>
          </a:p>
          <a:p>
            <a:pPr marL="228600" indent="-228600">
              <a:spcAft>
                <a:spcPts val="700"/>
              </a:spcAft>
              <a:buSzPct val="100000"/>
              <a:buChar char="•"/>
            </a:pPr>
            <a:r>
              <a:rPr lang="en-US" sz="1550" dirty="0">
                <a:solidFill>
                  <a:srgbClr val="23232B"/>
                </a:solidFill>
                <a:latin typeface="Calibri" pitchFamily="34" charset="0"/>
                <a:ea typeface="Calibri" pitchFamily="34" charset="-122"/>
                <a:cs typeface="Calibri" pitchFamily="34" charset="-120"/>
              </a:rPr>
              <a:t>Branch, review, and merge with Git</a:t>
            </a:r>
            <a:endParaRPr lang="en-US" sz="1550" dirty="0"/>
          </a:p>
          <a:p>
            <a:pPr marL="228600" indent="-228600">
              <a:spcAft>
                <a:spcPts val="700"/>
              </a:spcAft>
              <a:buSzPct val="100000"/>
              <a:buChar char="•"/>
            </a:pPr>
            <a:r>
              <a:rPr lang="en-US" sz="1550" dirty="0">
                <a:solidFill>
                  <a:srgbClr val="23232B"/>
                </a:solidFill>
                <a:latin typeface="Calibri" pitchFamily="34" charset="0"/>
                <a:ea typeface="Calibri" pitchFamily="34" charset="-122"/>
                <a:cs typeface="Calibri" pitchFamily="34" charset="-120"/>
              </a:rPr>
              <a:t>Integrate with other teams’ code</a:t>
            </a:r>
            <a:endParaRPr lang="en-US" sz="1550" dirty="0"/>
          </a:p>
          <a:p>
            <a:pPr marL="228600" indent="-228600">
              <a:spcAft>
                <a:spcPts val="700"/>
              </a:spcAft>
              <a:buSzPct val="100000"/>
              <a:buChar char="•"/>
            </a:pPr>
            <a:r>
              <a:rPr lang="en-US" sz="1550" dirty="0">
                <a:solidFill>
                  <a:srgbClr val="23232B"/>
                </a:solidFill>
                <a:latin typeface="Calibri" pitchFamily="34" charset="0"/>
                <a:ea typeface="Calibri" pitchFamily="34" charset="-122"/>
                <a:cs typeface="Calibri" pitchFamily="34" charset="-120"/>
              </a:rPr>
              <a:t>Debug real integration problems</a:t>
            </a:r>
            <a:endParaRPr lang="en-US" sz="1550" dirty="0"/>
          </a:p>
          <a:p>
            <a:pPr marL="228600" indent="-228600">
              <a:spcAft>
                <a:spcPts val="700"/>
              </a:spcAft>
              <a:buSzPct val="100000"/>
              <a:buChar char="•"/>
            </a:pPr>
            <a:r>
              <a:rPr lang="en-US" sz="1550" dirty="0">
                <a:solidFill>
                  <a:srgbClr val="23232B"/>
                </a:solidFill>
                <a:latin typeface="Calibri" pitchFamily="34" charset="0"/>
                <a:ea typeface="Calibri" pitchFamily="34" charset="-122"/>
                <a:cs typeface="Calibri" pitchFamily="34" charset="-120"/>
              </a:rPr>
              <a:t>Ship to a live, shared environment</a:t>
            </a:r>
            <a:endParaRPr lang="en-US" sz="1550" dirty="0"/>
          </a:p>
        </p:txBody>
      </p:sp>
      <p:sp>
        <p:nvSpPr>
          <p:cNvPr id="8" name="Shape 6"/>
          <p:cNvSpPr/>
          <p:nvPr/>
        </p:nvSpPr>
        <p:spPr>
          <a:xfrm>
            <a:off x="6519672" y="1645920"/>
            <a:ext cx="5120640" cy="3566160"/>
          </a:xfrm>
          <a:prstGeom prst="roundRect">
            <a:avLst>
              <a:gd name="adj" fmla="val 2051"/>
            </a:avLst>
          </a:prstGeom>
          <a:solidFill>
            <a:srgbClr val="121217"/>
          </a:solidFill>
          <a:ln w="9525">
            <a:solidFill>
              <a:srgbClr val="121217"/>
            </a:solidFill>
            <a:prstDash val="solid"/>
          </a:ln>
        </p:spPr>
      </p:sp>
      <p:sp>
        <p:nvSpPr>
          <p:cNvPr id="9" name="Text 7"/>
          <p:cNvSpPr txBox="1"/>
          <p:nvPr/>
        </p:nvSpPr>
        <p:spPr>
          <a:xfrm>
            <a:off x="6931152" y="1874520"/>
            <a:ext cx="4389120" cy="274320"/>
          </a:xfrm>
          <a:prstGeom prst="rect">
            <a:avLst/>
          </a:prstGeom>
          <a:noFill/>
          <a:ln/>
        </p:spPr>
        <p:txBody>
          <a:bodyPr wrap="square" lIns="0" tIns="0" rIns="0" bIns="0" rtlCol="0" anchor="ctr"/>
          <a:lstStyle/>
          <a:p>
            <a:pPr indent="0" marL="0">
              <a:buNone/>
            </a:pPr>
            <a:r>
              <a:rPr lang="en-US" sz="1200" b="1" spc="300" kern="0" dirty="0">
                <a:solidFill>
                  <a:srgbClr val="C9A45C"/>
                </a:solidFill>
                <a:latin typeface="Calibri" pitchFamily="34" charset="0"/>
                <a:ea typeface="Calibri" pitchFamily="34" charset="-122"/>
                <a:cs typeface="Calibri" pitchFamily="34" charset="-120"/>
              </a:rPr>
              <a:t>THE EXPERIENCE</a:t>
            </a:r>
            <a:endParaRPr lang="en-US" sz="1200" dirty="0"/>
          </a:p>
        </p:txBody>
      </p:sp>
      <p:sp>
        <p:nvSpPr>
          <p:cNvPr id="10" name="Text 8"/>
          <p:cNvSpPr txBox="1"/>
          <p:nvPr/>
        </p:nvSpPr>
        <p:spPr>
          <a:xfrm>
            <a:off x="6931152" y="2194560"/>
            <a:ext cx="4389120" cy="640080"/>
          </a:xfrm>
          <a:prstGeom prst="rect">
            <a:avLst/>
          </a:prstGeom>
          <a:noFill/>
          <a:ln/>
        </p:spPr>
        <p:txBody>
          <a:bodyPr wrap="square" lIns="0" tIns="0" rIns="0" bIns="0" rtlCol="0" anchor="ctr"/>
          <a:lstStyle/>
          <a:p>
            <a:pPr indent="0" marL="0">
              <a:buNone/>
            </a:pPr>
            <a:r>
              <a:rPr lang="en-US" sz="3000" b="1" dirty="0">
                <a:solidFill>
                  <a:srgbClr val="F7F5F1"/>
                </a:solidFill>
                <a:latin typeface="Cambria" pitchFamily="34" charset="0"/>
                <a:ea typeface="Cambria" pitchFamily="34" charset="-122"/>
                <a:cs typeface="Cambria" pitchFamily="34" charset="-120"/>
              </a:rPr>
              <a:t>Experience it</a:t>
            </a:r>
            <a:endParaRPr lang="en-US" sz="3000" dirty="0"/>
          </a:p>
        </p:txBody>
      </p:sp>
      <p:sp>
        <p:nvSpPr>
          <p:cNvPr id="11" name="Text 9"/>
          <p:cNvSpPr txBox="1"/>
          <p:nvPr/>
        </p:nvSpPr>
        <p:spPr>
          <a:xfrm>
            <a:off x="6931152" y="2926080"/>
            <a:ext cx="4434840" cy="2103120"/>
          </a:xfrm>
          <a:prstGeom prst="rect">
            <a:avLst/>
          </a:prstGeom>
          <a:noFill/>
          <a:ln/>
        </p:spPr>
        <p:txBody>
          <a:bodyPr wrap="square" lIns="0" tIns="0" rIns="0" bIns="0" rtlCol="0" anchor="t"/>
          <a:lstStyle/>
          <a:p>
            <a:pPr marL="228600" indent="-228600">
              <a:spcAft>
                <a:spcPts val="700"/>
              </a:spcAft>
              <a:buSzPct val="100000"/>
              <a:buChar char="•"/>
            </a:pPr>
            <a:r>
              <a:rPr lang="en-US" sz="1550" dirty="0">
                <a:solidFill>
                  <a:srgbClr val="EDEAE3"/>
                </a:solidFill>
                <a:latin typeface="Calibri" pitchFamily="34" charset="0"/>
                <a:ea typeface="Calibri" pitchFamily="34" charset="-122"/>
                <a:cs typeface="Calibri" pitchFamily="34" charset="-120"/>
              </a:rPr>
              <a:t>Sign in, solve puzzles, and score live</a:t>
            </a:r>
            <a:endParaRPr lang="en-US" sz="1550" dirty="0"/>
          </a:p>
          <a:p>
            <a:pPr marL="228600" indent="-228600">
              <a:spcAft>
                <a:spcPts val="700"/>
              </a:spcAft>
              <a:buSzPct val="100000"/>
              <a:buChar char="•"/>
            </a:pPr>
            <a:r>
              <a:rPr lang="en-US" sz="1550" dirty="0">
                <a:solidFill>
                  <a:srgbClr val="EDEAE3"/>
                </a:solidFill>
                <a:latin typeface="Calibri" pitchFamily="34" charset="0"/>
                <a:ea typeface="Calibri" pitchFamily="34" charset="-122"/>
                <a:cs typeface="Calibri" pitchFamily="34" charset="-120"/>
              </a:rPr>
              <a:t>Communicate and solve problems as a team</a:t>
            </a:r>
            <a:endParaRPr lang="en-US" sz="1550" dirty="0"/>
          </a:p>
          <a:p>
            <a:pPr marL="228600" indent="-228600">
              <a:spcAft>
                <a:spcPts val="700"/>
              </a:spcAft>
              <a:buSzPct val="100000"/>
              <a:buChar char="•"/>
            </a:pPr>
            <a:r>
              <a:rPr lang="en-US" sz="1550" dirty="0">
                <a:solidFill>
                  <a:srgbClr val="EDEAE3"/>
                </a:solidFill>
                <a:latin typeface="Calibri" pitchFamily="34" charset="0"/>
                <a:ea typeface="Calibri" pitchFamily="34" charset="-122"/>
                <a:cs typeface="Calibri" pitchFamily="34" charset="-120"/>
              </a:rPr>
              <a:t>Staff-approved points for in-person play</a:t>
            </a:r>
            <a:endParaRPr lang="en-US" sz="1550" dirty="0"/>
          </a:p>
          <a:p>
            <a:pPr marL="228600" indent="-228600">
              <a:spcAft>
                <a:spcPts val="700"/>
              </a:spcAft>
              <a:buSzPct val="100000"/>
              <a:buChar char="•"/>
            </a:pPr>
            <a:r>
              <a:rPr lang="en-US" sz="1550" dirty="0">
                <a:solidFill>
                  <a:srgbClr val="EDEAE3"/>
                </a:solidFill>
                <a:latin typeface="Calibri" pitchFamily="34" charset="0"/>
                <a:ea typeface="Calibri" pitchFamily="34" charset="-122"/>
                <a:cs typeface="Calibri" pitchFamily="34" charset="-120"/>
              </a:rPr>
              <a:t>Cohort bonding — a LEAP event or outing</a:t>
            </a:r>
            <a:endParaRPr lang="en-US" sz="1550" dirty="0"/>
          </a:p>
          <a:p>
            <a:pPr marL="228600" indent="-228600">
              <a:spcAft>
                <a:spcPts val="700"/>
              </a:spcAft>
              <a:buSzPct val="100000"/>
              <a:buChar char="•"/>
            </a:pPr>
            <a:r>
              <a:rPr lang="en-US" sz="1550" dirty="0">
                <a:solidFill>
                  <a:srgbClr val="EDEAE3"/>
                </a:solidFill>
                <a:latin typeface="Calibri" pitchFamily="34" charset="0"/>
                <a:ea typeface="Calibri" pitchFamily="34" charset="-122"/>
                <a:cs typeface="Calibri" pitchFamily="34" charset="-120"/>
              </a:rPr>
              <a:t>Ownership: playing what you built</a:t>
            </a:r>
            <a:endParaRPr lang="en-US" sz="1550" dirty="0"/>
          </a:p>
        </p:txBody>
      </p:sp>
      <p:sp>
        <p:nvSpPr>
          <p:cNvPr id="12" name="Shape 10"/>
          <p:cNvSpPr/>
          <p:nvPr/>
        </p:nvSpPr>
        <p:spPr>
          <a:xfrm>
            <a:off x="5728716" y="3081528"/>
            <a:ext cx="731520" cy="731520"/>
          </a:xfrm>
          <a:prstGeom prst="ellipse">
            <a:avLst/>
          </a:prstGeom>
          <a:solidFill>
            <a:srgbClr val="C9A45C"/>
          </a:solidFill>
          <a:ln w="38100">
            <a:solidFill>
              <a:srgbClr val="F7F5F1"/>
            </a:solidFill>
            <a:prstDash val="solid"/>
          </a:ln>
        </p:spPr>
      </p:sp>
      <p:sp>
        <p:nvSpPr>
          <p:cNvPr id="13" name="Text 11"/>
          <p:cNvSpPr txBox="1"/>
          <p:nvPr/>
        </p:nvSpPr>
        <p:spPr>
          <a:xfrm>
            <a:off x="5728716" y="3081528"/>
            <a:ext cx="731520" cy="731520"/>
          </a:xfrm>
          <a:prstGeom prst="rect">
            <a:avLst/>
          </a:prstGeom>
          <a:noFill/>
          <a:ln/>
        </p:spPr>
        <p:txBody>
          <a:bodyPr wrap="square" lIns="0" tIns="0" rIns="0" bIns="0" rtlCol="0" anchor="ctr"/>
          <a:lstStyle/>
          <a:p>
            <a:pPr algn="ctr" indent="0" marL="0">
              <a:buNone/>
            </a:pPr>
            <a:r>
              <a:rPr lang="en-US" sz="2400" b="1" dirty="0">
                <a:solidFill>
                  <a:srgbClr val="121217"/>
                </a:solidFill>
                <a:latin typeface="Calibri" pitchFamily="34" charset="0"/>
                <a:ea typeface="Calibri" pitchFamily="34" charset="-122"/>
                <a:cs typeface="Calibri" pitchFamily="34" charset="-120"/>
              </a:rPr>
              <a:t>→</a:t>
            </a:r>
            <a:endParaRPr lang="en-US" sz="2400" dirty="0"/>
          </a:p>
        </p:txBody>
      </p:sp>
      <p:sp>
        <p:nvSpPr>
          <p:cNvPr id="14" name="Text 12"/>
          <p:cNvSpPr txBox="1"/>
          <p:nvPr/>
        </p:nvSpPr>
        <p:spPr>
          <a:xfrm>
            <a:off x="548640" y="5532120"/>
            <a:ext cx="11091672" cy="640080"/>
          </a:xfrm>
          <a:prstGeom prst="rect">
            <a:avLst/>
          </a:prstGeom>
          <a:noFill/>
          <a:ln/>
        </p:spPr>
        <p:txBody>
          <a:bodyPr wrap="square" lIns="0" tIns="0" rIns="0" bIns="0" rtlCol="0" anchor="ctr"/>
          <a:lstStyle/>
          <a:p>
            <a:pPr algn="ctr" indent="0" marL="0">
              <a:buNone/>
            </a:pPr>
            <a:r>
              <a:rPr lang="en-US" sz="2600" b="1" i="1" dirty="0">
                <a:solidFill>
                  <a:srgbClr val="8C2233"/>
                </a:solidFill>
                <a:latin typeface="Cambria" pitchFamily="34" charset="0"/>
                <a:ea typeface="Cambria" pitchFamily="34" charset="-122"/>
                <a:cs typeface="Cambria" pitchFamily="34" charset="-120"/>
              </a:rPr>
              <a:t>The deliverable becomes the team-building activity.</a:t>
            </a:r>
            <a:endParaRPr lang="en-US"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1217"/>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685800"/>
          </a:xfrm>
          <a:prstGeom prst="rect">
            <a:avLst/>
          </a:prstGeom>
          <a:noFill/>
          <a:ln/>
        </p:spPr>
        <p:txBody>
          <a:bodyPr wrap="square" lIns="0" tIns="0" rIns="0" bIns="0" rtlCol="0" anchor="ctr"/>
          <a:lstStyle/>
          <a:p>
            <a:pPr indent="0" marL="0">
              <a:buNone/>
            </a:pPr>
            <a:r>
              <a:rPr lang="en-US" sz="3600" b="1" dirty="0">
                <a:solidFill>
                  <a:srgbClr val="F7F5F1"/>
                </a:solidFill>
                <a:latin typeface="Cambria" pitchFamily="34" charset="0"/>
                <a:ea typeface="Cambria" pitchFamily="34" charset="-122"/>
                <a:cs typeface="Cambria" pitchFamily="34" charset="-120"/>
              </a:rPr>
              <a:t>How this could complement LEAP</a:t>
            </a:r>
            <a:endParaRPr lang="en-US" sz="3600" dirty="0"/>
          </a:p>
        </p:txBody>
      </p:sp>
      <p:sp>
        <p:nvSpPr>
          <p:cNvPr id="3" name="Text 1"/>
          <p:cNvSpPr txBox="1"/>
          <p:nvPr/>
        </p:nvSpPr>
        <p:spPr>
          <a:xfrm>
            <a:off x="548640" y="1024128"/>
            <a:ext cx="10972800" cy="320040"/>
          </a:xfrm>
          <a:prstGeom prst="rect">
            <a:avLst/>
          </a:prstGeom>
          <a:noFill/>
          <a:ln/>
        </p:spPr>
        <p:txBody>
          <a:bodyPr wrap="square" lIns="0" tIns="0" rIns="0" bIns="0" rtlCol="0" anchor="ctr"/>
          <a:lstStyle/>
          <a:p>
            <a:pPr indent="0" marL="0">
              <a:buNone/>
            </a:pPr>
            <a:r>
              <a:rPr lang="en-US" sz="1500" dirty="0">
                <a:solidFill>
                  <a:srgbClr val="B9B6C2"/>
                </a:solidFill>
                <a:latin typeface="Calibri" pitchFamily="34" charset="0"/>
                <a:ea typeface="Calibri" pitchFamily="34" charset="-122"/>
                <a:cs typeface="Calibri" pitchFamily="34" charset="-120"/>
              </a:rPr>
              <a:t>Building on what LEAP already does, not replacing it.</a:t>
            </a:r>
            <a:endParaRPr lang="en-US" sz="1500" dirty="0"/>
          </a:p>
        </p:txBody>
      </p:sp>
      <p:sp>
        <p:nvSpPr>
          <p:cNvPr id="4" name="Shape 2"/>
          <p:cNvSpPr/>
          <p:nvPr/>
        </p:nvSpPr>
        <p:spPr>
          <a:xfrm>
            <a:off x="548640" y="1737360"/>
            <a:ext cx="1965960" cy="1691640"/>
          </a:xfrm>
          <a:prstGeom prst="roundRect">
            <a:avLst>
              <a:gd name="adj" fmla="val 4324"/>
            </a:avLst>
          </a:prstGeom>
          <a:solidFill>
            <a:srgbClr val="1E1E26"/>
          </a:solidFill>
          <a:ln w="9525">
            <a:solidFill>
              <a:srgbClr val="3A3A46"/>
            </a:solidFill>
            <a:prstDash val="solid"/>
          </a:ln>
        </p:spPr>
      </p:sp>
      <p:sp>
        <p:nvSpPr>
          <p:cNvPr id="5" name="Text 3"/>
          <p:cNvSpPr txBox="1"/>
          <p:nvPr/>
        </p:nvSpPr>
        <p:spPr>
          <a:xfrm>
            <a:off x="731520" y="1901952"/>
            <a:ext cx="914400" cy="320040"/>
          </a:xfrm>
          <a:prstGeom prst="rect">
            <a:avLst/>
          </a:prstGeom>
          <a:noFill/>
          <a:ln/>
        </p:spPr>
        <p:txBody>
          <a:bodyPr wrap="square" lIns="0" tIns="0" rIns="0" bIns="0" rtlCol="0" anchor="ctr"/>
          <a:lstStyle/>
          <a:p>
            <a:pPr indent="0" marL="0">
              <a:buNone/>
            </a:pPr>
            <a:r>
              <a:rPr lang="en-US" sz="1300" b="1" dirty="0">
                <a:solidFill>
                  <a:srgbClr val="C9A45C"/>
                </a:solidFill>
                <a:latin typeface="Calibri" pitchFamily="34" charset="0"/>
                <a:ea typeface="Calibri" pitchFamily="34" charset="-122"/>
                <a:cs typeface="Calibri" pitchFamily="34" charset="-120"/>
              </a:rPr>
              <a:t>01</a:t>
            </a:r>
            <a:endParaRPr lang="en-US" sz="1300" dirty="0"/>
          </a:p>
        </p:txBody>
      </p:sp>
      <p:sp>
        <p:nvSpPr>
          <p:cNvPr id="6" name="Text 4"/>
          <p:cNvSpPr txBox="1"/>
          <p:nvPr/>
        </p:nvSpPr>
        <p:spPr>
          <a:xfrm>
            <a:off x="731520" y="2240280"/>
            <a:ext cx="1691640" cy="411480"/>
          </a:xfrm>
          <a:prstGeom prst="rect">
            <a:avLst/>
          </a:prstGeom>
          <a:noFill/>
          <a:ln/>
        </p:spPr>
        <p:txBody>
          <a:bodyPr wrap="square" lIns="0" tIns="0" rIns="0" bIns="0" rtlCol="0" anchor="ctr"/>
          <a:lstStyle/>
          <a:p>
            <a:pPr indent="0" marL="0">
              <a:buNone/>
            </a:pPr>
            <a:r>
              <a:rPr lang="en-US" sz="1450" b="1" dirty="0">
                <a:solidFill>
                  <a:srgbClr val="F7F5F1"/>
                </a:solidFill>
                <a:latin typeface="Cambria" pitchFamily="34" charset="0"/>
                <a:ea typeface="Cambria" pitchFamily="34" charset="-122"/>
                <a:cs typeface="Cambria" pitchFamily="34" charset="-120"/>
              </a:rPr>
              <a:t>LEARN</a:t>
            </a:r>
            <a:endParaRPr lang="en-US" sz="1450" dirty="0"/>
          </a:p>
        </p:txBody>
      </p:sp>
      <p:sp>
        <p:nvSpPr>
          <p:cNvPr id="7" name="Text 5"/>
          <p:cNvSpPr txBox="1"/>
          <p:nvPr/>
        </p:nvSpPr>
        <p:spPr>
          <a:xfrm>
            <a:off x="731520" y="2697480"/>
            <a:ext cx="1645920" cy="640080"/>
          </a:xfrm>
          <a:prstGeom prst="rect">
            <a:avLst/>
          </a:prstGeom>
          <a:noFill/>
          <a:ln/>
        </p:spPr>
        <p:txBody>
          <a:bodyPr wrap="square" lIns="0" tIns="0" rIns="0" bIns="0" rtlCol="0" anchor="t"/>
          <a:lstStyle/>
          <a:p>
            <a:pPr indent="0" marL="0">
              <a:buNone/>
            </a:pPr>
            <a:r>
              <a:rPr lang="en-US" sz="1250" dirty="0">
                <a:solidFill>
                  <a:srgbClr val="B9B6C2"/>
                </a:solidFill>
                <a:latin typeface="Calibri" pitchFamily="34" charset="0"/>
                <a:ea typeface="Calibri" pitchFamily="34" charset="-122"/>
                <a:cs typeface="Calibri" pitchFamily="34" charset="-120"/>
              </a:rPr>
              <a:t>LEAP / Neueda training</a:t>
            </a:r>
            <a:endParaRPr lang="en-US" sz="1250" dirty="0"/>
          </a:p>
        </p:txBody>
      </p:sp>
      <p:sp>
        <p:nvSpPr>
          <p:cNvPr id="8" name="Text 6"/>
          <p:cNvSpPr txBox="1"/>
          <p:nvPr/>
        </p:nvSpPr>
        <p:spPr>
          <a:xfrm>
            <a:off x="2514600" y="1737360"/>
            <a:ext cx="315468" cy="1691640"/>
          </a:xfrm>
          <a:prstGeom prst="rect">
            <a:avLst/>
          </a:prstGeom>
          <a:noFill/>
          <a:ln/>
        </p:spPr>
        <p:txBody>
          <a:bodyPr wrap="square" lIns="0" tIns="0" rIns="0" bIns="0" rtlCol="0" anchor="ctr"/>
          <a:lstStyle/>
          <a:p>
            <a:pPr algn="ctr" indent="0" marL="0">
              <a:buNone/>
            </a:pPr>
            <a:r>
              <a:rPr lang="en-US" sz="2800" b="1" dirty="0">
                <a:solidFill>
                  <a:srgbClr val="C9A45C"/>
                </a:solidFill>
                <a:latin typeface="Calibri" pitchFamily="34" charset="0"/>
                <a:ea typeface="Calibri" pitchFamily="34" charset="-122"/>
                <a:cs typeface="Calibri" pitchFamily="34" charset="-120"/>
              </a:rPr>
              <a:t>›</a:t>
            </a:r>
            <a:endParaRPr lang="en-US" sz="2800" dirty="0"/>
          </a:p>
        </p:txBody>
      </p:sp>
      <p:sp>
        <p:nvSpPr>
          <p:cNvPr id="9" name="Shape 7"/>
          <p:cNvSpPr/>
          <p:nvPr/>
        </p:nvSpPr>
        <p:spPr>
          <a:xfrm>
            <a:off x="2830068" y="1737360"/>
            <a:ext cx="1965960" cy="1691640"/>
          </a:xfrm>
          <a:prstGeom prst="roundRect">
            <a:avLst>
              <a:gd name="adj" fmla="val 4324"/>
            </a:avLst>
          </a:prstGeom>
          <a:solidFill>
            <a:srgbClr val="1E1E26"/>
          </a:solidFill>
          <a:ln w="9525">
            <a:solidFill>
              <a:srgbClr val="3A3A46"/>
            </a:solidFill>
            <a:prstDash val="solid"/>
          </a:ln>
        </p:spPr>
      </p:sp>
      <p:sp>
        <p:nvSpPr>
          <p:cNvPr id="10" name="Text 8"/>
          <p:cNvSpPr txBox="1"/>
          <p:nvPr/>
        </p:nvSpPr>
        <p:spPr>
          <a:xfrm>
            <a:off x="3012948" y="1901952"/>
            <a:ext cx="914400" cy="320040"/>
          </a:xfrm>
          <a:prstGeom prst="rect">
            <a:avLst/>
          </a:prstGeom>
          <a:noFill/>
          <a:ln/>
        </p:spPr>
        <p:txBody>
          <a:bodyPr wrap="square" lIns="0" tIns="0" rIns="0" bIns="0" rtlCol="0" anchor="ctr"/>
          <a:lstStyle/>
          <a:p>
            <a:pPr indent="0" marL="0">
              <a:buNone/>
            </a:pPr>
            <a:r>
              <a:rPr lang="en-US" sz="1300" b="1" dirty="0">
                <a:solidFill>
                  <a:srgbClr val="C9A45C"/>
                </a:solidFill>
                <a:latin typeface="Calibri" pitchFamily="34" charset="0"/>
                <a:ea typeface="Calibri" pitchFamily="34" charset="-122"/>
                <a:cs typeface="Calibri" pitchFamily="34" charset="-120"/>
              </a:rPr>
              <a:t>02</a:t>
            </a:r>
            <a:endParaRPr lang="en-US" sz="1300" dirty="0"/>
          </a:p>
        </p:txBody>
      </p:sp>
      <p:sp>
        <p:nvSpPr>
          <p:cNvPr id="11" name="Text 9"/>
          <p:cNvSpPr txBox="1"/>
          <p:nvPr/>
        </p:nvSpPr>
        <p:spPr>
          <a:xfrm>
            <a:off x="3012948" y="2240280"/>
            <a:ext cx="1691640" cy="411480"/>
          </a:xfrm>
          <a:prstGeom prst="rect">
            <a:avLst/>
          </a:prstGeom>
          <a:noFill/>
          <a:ln/>
        </p:spPr>
        <p:txBody>
          <a:bodyPr wrap="square" lIns="0" tIns="0" rIns="0" bIns="0" rtlCol="0" anchor="ctr"/>
          <a:lstStyle/>
          <a:p>
            <a:pPr indent="0" marL="0">
              <a:buNone/>
            </a:pPr>
            <a:r>
              <a:rPr lang="en-US" sz="1450" b="1" dirty="0">
                <a:solidFill>
                  <a:srgbClr val="F7F5F1"/>
                </a:solidFill>
                <a:latin typeface="Cambria" pitchFamily="34" charset="0"/>
                <a:ea typeface="Cambria" pitchFamily="34" charset="-122"/>
                <a:cs typeface="Cambria" pitchFamily="34" charset="-120"/>
              </a:rPr>
              <a:t>BUILD</a:t>
            </a:r>
            <a:endParaRPr lang="en-US" sz="1450" dirty="0"/>
          </a:p>
        </p:txBody>
      </p:sp>
      <p:sp>
        <p:nvSpPr>
          <p:cNvPr id="12" name="Text 10"/>
          <p:cNvSpPr txBox="1"/>
          <p:nvPr/>
        </p:nvSpPr>
        <p:spPr>
          <a:xfrm>
            <a:off x="3012948" y="2697480"/>
            <a:ext cx="1645920" cy="640080"/>
          </a:xfrm>
          <a:prstGeom prst="rect">
            <a:avLst/>
          </a:prstGeom>
          <a:noFill/>
          <a:ln/>
        </p:spPr>
        <p:txBody>
          <a:bodyPr wrap="square" lIns="0" tIns="0" rIns="0" bIns="0" rtlCol="0" anchor="t"/>
          <a:lstStyle/>
          <a:p>
            <a:pPr indent="0" marL="0">
              <a:buNone/>
            </a:pPr>
            <a:r>
              <a:rPr lang="en-US" sz="1250" dirty="0">
                <a:solidFill>
                  <a:srgbClr val="B9B6C2"/>
                </a:solidFill>
                <a:latin typeface="Calibri" pitchFamily="34" charset="0"/>
                <a:ea typeface="Calibri" pitchFamily="34" charset="-122"/>
                <a:cs typeface="Calibri" pitchFamily="34" charset="-120"/>
              </a:rPr>
              <a:t>Small teams own features</a:t>
            </a:r>
            <a:endParaRPr lang="en-US" sz="1250" dirty="0"/>
          </a:p>
        </p:txBody>
      </p:sp>
      <p:sp>
        <p:nvSpPr>
          <p:cNvPr id="13" name="Text 11"/>
          <p:cNvSpPr txBox="1"/>
          <p:nvPr/>
        </p:nvSpPr>
        <p:spPr>
          <a:xfrm>
            <a:off x="4796028" y="1737360"/>
            <a:ext cx="315468" cy="1691640"/>
          </a:xfrm>
          <a:prstGeom prst="rect">
            <a:avLst/>
          </a:prstGeom>
          <a:noFill/>
          <a:ln/>
        </p:spPr>
        <p:txBody>
          <a:bodyPr wrap="square" lIns="0" tIns="0" rIns="0" bIns="0" rtlCol="0" anchor="ctr"/>
          <a:lstStyle/>
          <a:p>
            <a:pPr algn="ctr" indent="0" marL="0">
              <a:buNone/>
            </a:pPr>
            <a:r>
              <a:rPr lang="en-US" sz="2800" b="1" dirty="0">
                <a:solidFill>
                  <a:srgbClr val="C9A45C"/>
                </a:solidFill>
                <a:latin typeface="Calibri" pitchFamily="34" charset="0"/>
                <a:ea typeface="Calibri" pitchFamily="34" charset="-122"/>
                <a:cs typeface="Calibri" pitchFamily="34" charset="-120"/>
              </a:rPr>
              <a:t>›</a:t>
            </a:r>
            <a:endParaRPr lang="en-US" sz="2800" dirty="0"/>
          </a:p>
        </p:txBody>
      </p:sp>
      <p:sp>
        <p:nvSpPr>
          <p:cNvPr id="14" name="Shape 12"/>
          <p:cNvSpPr/>
          <p:nvPr/>
        </p:nvSpPr>
        <p:spPr>
          <a:xfrm>
            <a:off x="5111496" y="1737360"/>
            <a:ext cx="1965960" cy="1691640"/>
          </a:xfrm>
          <a:prstGeom prst="roundRect">
            <a:avLst>
              <a:gd name="adj" fmla="val 4324"/>
            </a:avLst>
          </a:prstGeom>
          <a:solidFill>
            <a:srgbClr val="1E1E26"/>
          </a:solidFill>
          <a:ln w="9525">
            <a:solidFill>
              <a:srgbClr val="3A3A46"/>
            </a:solidFill>
            <a:prstDash val="solid"/>
          </a:ln>
        </p:spPr>
      </p:sp>
      <p:sp>
        <p:nvSpPr>
          <p:cNvPr id="15" name="Text 13"/>
          <p:cNvSpPr txBox="1"/>
          <p:nvPr/>
        </p:nvSpPr>
        <p:spPr>
          <a:xfrm>
            <a:off x="5294376" y="1901952"/>
            <a:ext cx="914400" cy="320040"/>
          </a:xfrm>
          <a:prstGeom prst="rect">
            <a:avLst/>
          </a:prstGeom>
          <a:noFill/>
          <a:ln/>
        </p:spPr>
        <p:txBody>
          <a:bodyPr wrap="square" lIns="0" tIns="0" rIns="0" bIns="0" rtlCol="0" anchor="ctr"/>
          <a:lstStyle/>
          <a:p>
            <a:pPr indent="0" marL="0">
              <a:buNone/>
            </a:pPr>
            <a:r>
              <a:rPr lang="en-US" sz="1300" b="1" dirty="0">
                <a:solidFill>
                  <a:srgbClr val="C9A45C"/>
                </a:solidFill>
                <a:latin typeface="Calibri" pitchFamily="34" charset="0"/>
                <a:ea typeface="Calibri" pitchFamily="34" charset="-122"/>
                <a:cs typeface="Calibri" pitchFamily="34" charset="-120"/>
              </a:rPr>
              <a:t>03</a:t>
            </a:r>
            <a:endParaRPr lang="en-US" sz="1300" dirty="0"/>
          </a:p>
        </p:txBody>
      </p:sp>
      <p:sp>
        <p:nvSpPr>
          <p:cNvPr id="16" name="Text 14"/>
          <p:cNvSpPr txBox="1"/>
          <p:nvPr/>
        </p:nvSpPr>
        <p:spPr>
          <a:xfrm>
            <a:off x="5294376" y="2240280"/>
            <a:ext cx="1691640" cy="411480"/>
          </a:xfrm>
          <a:prstGeom prst="rect">
            <a:avLst/>
          </a:prstGeom>
          <a:noFill/>
          <a:ln/>
        </p:spPr>
        <p:txBody>
          <a:bodyPr wrap="square" lIns="0" tIns="0" rIns="0" bIns="0" rtlCol="0" anchor="ctr"/>
          <a:lstStyle/>
          <a:p>
            <a:pPr indent="0" marL="0">
              <a:buNone/>
            </a:pPr>
            <a:r>
              <a:rPr lang="en-US" sz="1450" b="1" dirty="0">
                <a:solidFill>
                  <a:srgbClr val="F7F5F1"/>
                </a:solidFill>
                <a:latin typeface="Cambria" pitchFamily="34" charset="0"/>
                <a:ea typeface="Cambria" pitchFamily="34" charset="-122"/>
                <a:cs typeface="Cambria" pitchFamily="34" charset="-120"/>
              </a:rPr>
              <a:t>COLLABORATE</a:t>
            </a:r>
            <a:endParaRPr lang="en-US" sz="1450" dirty="0"/>
          </a:p>
        </p:txBody>
      </p:sp>
      <p:sp>
        <p:nvSpPr>
          <p:cNvPr id="17" name="Text 15"/>
          <p:cNvSpPr txBox="1"/>
          <p:nvPr/>
        </p:nvSpPr>
        <p:spPr>
          <a:xfrm>
            <a:off x="5294376" y="2697480"/>
            <a:ext cx="1645920" cy="640080"/>
          </a:xfrm>
          <a:prstGeom prst="rect">
            <a:avLst/>
          </a:prstGeom>
          <a:noFill/>
          <a:ln/>
        </p:spPr>
        <p:txBody>
          <a:bodyPr wrap="square" lIns="0" tIns="0" rIns="0" bIns="0" rtlCol="0" anchor="t"/>
          <a:lstStyle/>
          <a:p>
            <a:pPr indent="0" marL="0">
              <a:buNone/>
            </a:pPr>
            <a:r>
              <a:rPr lang="en-US" sz="1250" dirty="0">
                <a:solidFill>
                  <a:srgbClr val="B9B6C2"/>
                </a:solidFill>
                <a:latin typeface="Calibri" pitchFamily="34" charset="0"/>
                <a:ea typeface="Calibri" pitchFamily="34" charset="-122"/>
                <a:cs typeface="Calibri" pitchFamily="34" charset="-120"/>
              </a:rPr>
              <a:t>Features integrate into one app</a:t>
            </a:r>
            <a:endParaRPr lang="en-US" sz="1250" dirty="0"/>
          </a:p>
        </p:txBody>
      </p:sp>
      <p:sp>
        <p:nvSpPr>
          <p:cNvPr id="18" name="Text 16"/>
          <p:cNvSpPr txBox="1"/>
          <p:nvPr/>
        </p:nvSpPr>
        <p:spPr>
          <a:xfrm>
            <a:off x="7077456" y="1737360"/>
            <a:ext cx="315468" cy="1691640"/>
          </a:xfrm>
          <a:prstGeom prst="rect">
            <a:avLst/>
          </a:prstGeom>
          <a:noFill/>
          <a:ln/>
        </p:spPr>
        <p:txBody>
          <a:bodyPr wrap="square" lIns="0" tIns="0" rIns="0" bIns="0" rtlCol="0" anchor="ctr"/>
          <a:lstStyle/>
          <a:p>
            <a:pPr algn="ctr" indent="0" marL="0">
              <a:buNone/>
            </a:pPr>
            <a:r>
              <a:rPr lang="en-US" sz="2800" b="1" dirty="0">
                <a:solidFill>
                  <a:srgbClr val="C9A45C"/>
                </a:solidFill>
                <a:latin typeface="Calibri" pitchFamily="34" charset="0"/>
                <a:ea typeface="Calibri" pitchFamily="34" charset="-122"/>
                <a:cs typeface="Calibri" pitchFamily="34" charset="-120"/>
              </a:rPr>
              <a:t>›</a:t>
            </a:r>
            <a:endParaRPr lang="en-US" sz="2800" dirty="0"/>
          </a:p>
        </p:txBody>
      </p:sp>
      <p:sp>
        <p:nvSpPr>
          <p:cNvPr id="19" name="Shape 17"/>
          <p:cNvSpPr/>
          <p:nvPr/>
        </p:nvSpPr>
        <p:spPr>
          <a:xfrm>
            <a:off x="7392924" y="1737360"/>
            <a:ext cx="1965960" cy="1691640"/>
          </a:xfrm>
          <a:prstGeom prst="roundRect">
            <a:avLst>
              <a:gd name="adj" fmla="val 4324"/>
            </a:avLst>
          </a:prstGeom>
          <a:solidFill>
            <a:srgbClr val="1E1E26"/>
          </a:solidFill>
          <a:ln w="9525">
            <a:solidFill>
              <a:srgbClr val="3A3A46"/>
            </a:solidFill>
            <a:prstDash val="solid"/>
          </a:ln>
        </p:spPr>
      </p:sp>
      <p:sp>
        <p:nvSpPr>
          <p:cNvPr id="20" name="Text 18"/>
          <p:cNvSpPr txBox="1"/>
          <p:nvPr/>
        </p:nvSpPr>
        <p:spPr>
          <a:xfrm>
            <a:off x="7575804" y="1901952"/>
            <a:ext cx="914400" cy="320040"/>
          </a:xfrm>
          <a:prstGeom prst="rect">
            <a:avLst/>
          </a:prstGeom>
          <a:noFill/>
          <a:ln/>
        </p:spPr>
        <p:txBody>
          <a:bodyPr wrap="square" lIns="0" tIns="0" rIns="0" bIns="0" rtlCol="0" anchor="ctr"/>
          <a:lstStyle/>
          <a:p>
            <a:pPr indent="0" marL="0">
              <a:buNone/>
            </a:pPr>
            <a:r>
              <a:rPr lang="en-US" sz="1300" b="1" dirty="0">
                <a:solidFill>
                  <a:srgbClr val="C9A45C"/>
                </a:solidFill>
                <a:latin typeface="Calibri" pitchFamily="34" charset="0"/>
                <a:ea typeface="Calibri" pitchFamily="34" charset="-122"/>
                <a:cs typeface="Calibri" pitchFamily="34" charset="-120"/>
              </a:rPr>
              <a:t>04</a:t>
            </a:r>
            <a:endParaRPr lang="en-US" sz="1300" dirty="0"/>
          </a:p>
        </p:txBody>
      </p:sp>
      <p:sp>
        <p:nvSpPr>
          <p:cNvPr id="21" name="Text 19"/>
          <p:cNvSpPr txBox="1"/>
          <p:nvPr/>
        </p:nvSpPr>
        <p:spPr>
          <a:xfrm>
            <a:off x="7575804" y="2240280"/>
            <a:ext cx="1691640" cy="411480"/>
          </a:xfrm>
          <a:prstGeom prst="rect">
            <a:avLst/>
          </a:prstGeom>
          <a:noFill/>
          <a:ln/>
        </p:spPr>
        <p:txBody>
          <a:bodyPr wrap="square" lIns="0" tIns="0" rIns="0" bIns="0" rtlCol="0" anchor="ctr"/>
          <a:lstStyle/>
          <a:p>
            <a:pPr indent="0" marL="0">
              <a:buNone/>
            </a:pPr>
            <a:r>
              <a:rPr lang="en-US" sz="1450" b="1" dirty="0">
                <a:solidFill>
                  <a:srgbClr val="F7F5F1"/>
                </a:solidFill>
                <a:latin typeface="Cambria" pitchFamily="34" charset="0"/>
                <a:ea typeface="Cambria" pitchFamily="34" charset="-122"/>
                <a:cs typeface="Cambria" pitchFamily="34" charset="-120"/>
              </a:rPr>
              <a:t>DEPLOY</a:t>
            </a:r>
            <a:endParaRPr lang="en-US" sz="1450" dirty="0"/>
          </a:p>
        </p:txBody>
      </p:sp>
      <p:sp>
        <p:nvSpPr>
          <p:cNvPr id="22" name="Text 20"/>
          <p:cNvSpPr txBox="1"/>
          <p:nvPr/>
        </p:nvSpPr>
        <p:spPr>
          <a:xfrm>
            <a:off x="7575804" y="2697480"/>
            <a:ext cx="1645920" cy="640080"/>
          </a:xfrm>
          <a:prstGeom prst="rect">
            <a:avLst/>
          </a:prstGeom>
          <a:noFill/>
          <a:ln/>
        </p:spPr>
        <p:txBody>
          <a:bodyPr wrap="square" lIns="0" tIns="0" rIns="0" bIns="0" rtlCol="0" anchor="t"/>
          <a:lstStyle/>
          <a:p>
            <a:pPr indent="0" marL="0">
              <a:buNone/>
            </a:pPr>
            <a:r>
              <a:rPr lang="en-US" sz="1250" dirty="0">
                <a:solidFill>
                  <a:srgbClr val="B9B6C2"/>
                </a:solidFill>
                <a:latin typeface="Calibri" pitchFamily="34" charset="0"/>
                <a:ea typeface="Calibri" pitchFamily="34" charset="-122"/>
                <a:cs typeface="Calibri" pitchFamily="34" charset="-120"/>
              </a:rPr>
              <a:t>One shared, live application</a:t>
            </a:r>
            <a:endParaRPr lang="en-US" sz="1250" dirty="0"/>
          </a:p>
        </p:txBody>
      </p:sp>
      <p:sp>
        <p:nvSpPr>
          <p:cNvPr id="23" name="Text 21"/>
          <p:cNvSpPr txBox="1"/>
          <p:nvPr/>
        </p:nvSpPr>
        <p:spPr>
          <a:xfrm>
            <a:off x="9358884" y="1737360"/>
            <a:ext cx="315468" cy="1691640"/>
          </a:xfrm>
          <a:prstGeom prst="rect">
            <a:avLst/>
          </a:prstGeom>
          <a:noFill/>
          <a:ln/>
        </p:spPr>
        <p:txBody>
          <a:bodyPr wrap="square" lIns="0" tIns="0" rIns="0" bIns="0" rtlCol="0" anchor="ctr"/>
          <a:lstStyle/>
          <a:p>
            <a:pPr algn="ctr" indent="0" marL="0">
              <a:buNone/>
            </a:pPr>
            <a:r>
              <a:rPr lang="en-US" sz="2800" b="1" dirty="0">
                <a:solidFill>
                  <a:srgbClr val="C9A45C"/>
                </a:solidFill>
                <a:latin typeface="Calibri" pitchFamily="34" charset="0"/>
                <a:ea typeface="Calibri" pitchFamily="34" charset="-122"/>
                <a:cs typeface="Calibri" pitchFamily="34" charset="-120"/>
              </a:rPr>
              <a:t>›</a:t>
            </a:r>
            <a:endParaRPr lang="en-US" sz="2800" dirty="0"/>
          </a:p>
        </p:txBody>
      </p:sp>
      <p:sp>
        <p:nvSpPr>
          <p:cNvPr id="24" name="Shape 22"/>
          <p:cNvSpPr/>
          <p:nvPr/>
        </p:nvSpPr>
        <p:spPr>
          <a:xfrm>
            <a:off x="9674352" y="1737360"/>
            <a:ext cx="1965960" cy="1691640"/>
          </a:xfrm>
          <a:prstGeom prst="roundRect">
            <a:avLst>
              <a:gd name="adj" fmla="val 4324"/>
            </a:avLst>
          </a:prstGeom>
          <a:solidFill>
            <a:srgbClr val="C9A45C"/>
          </a:solidFill>
          <a:ln w="9525">
            <a:solidFill>
              <a:srgbClr val="C9A45C"/>
            </a:solidFill>
            <a:prstDash val="solid"/>
          </a:ln>
        </p:spPr>
      </p:sp>
      <p:sp>
        <p:nvSpPr>
          <p:cNvPr id="25" name="Text 23"/>
          <p:cNvSpPr txBox="1"/>
          <p:nvPr/>
        </p:nvSpPr>
        <p:spPr>
          <a:xfrm>
            <a:off x="9857232" y="1901952"/>
            <a:ext cx="914400" cy="320040"/>
          </a:xfrm>
          <a:prstGeom prst="rect">
            <a:avLst/>
          </a:prstGeom>
          <a:noFill/>
          <a:ln/>
        </p:spPr>
        <p:txBody>
          <a:bodyPr wrap="square" lIns="0" tIns="0" rIns="0" bIns="0" rtlCol="0" anchor="ctr"/>
          <a:lstStyle/>
          <a:p>
            <a:pPr indent="0" marL="0">
              <a:buNone/>
            </a:pPr>
            <a:r>
              <a:rPr lang="en-US" sz="1300" b="1" dirty="0">
                <a:solidFill>
                  <a:srgbClr val="121217"/>
                </a:solidFill>
                <a:latin typeface="Calibri" pitchFamily="34" charset="0"/>
                <a:ea typeface="Calibri" pitchFamily="34" charset="-122"/>
                <a:cs typeface="Calibri" pitchFamily="34" charset="-120"/>
              </a:rPr>
              <a:t>05</a:t>
            </a:r>
            <a:endParaRPr lang="en-US" sz="1300" dirty="0"/>
          </a:p>
        </p:txBody>
      </p:sp>
      <p:sp>
        <p:nvSpPr>
          <p:cNvPr id="26" name="Text 24"/>
          <p:cNvSpPr txBox="1"/>
          <p:nvPr/>
        </p:nvSpPr>
        <p:spPr>
          <a:xfrm>
            <a:off x="9857232" y="2240280"/>
            <a:ext cx="1691640" cy="411480"/>
          </a:xfrm>
          <a:prstGeom prst="rect">
            <a:avLst/>
          </a:prstGeom>
          <a:noFill/>
          <a:ln/>
        </p:spPr>
        <p:txBody>
          <a:bodyPr wrap="square" lIns="0" tIns="0" rIns="0" bIns="0" rtlCol="0" anchor="ctr"/>
          <a:lstStyle/>
          <a:p>
            <a:pPr indent="0" marL="0">
              <a:buNone/>
            </a:pPr>
            <a:r>
              <a:rPr lang="en-US" sz="1450" b="1" dirty="0">
                <a:solidFill>
                  <a:srgbClr val="121217"/>
                </a:solidFill>
                <a:latin typeface="Cambria" pitchFamily="34" charset="0"/>
                <a:ea typeface="Cambria" pitchFamily="34" charset="-122"/>
                <a:cs typeface="Cambria" pitchFamily="34" charset="-120"/>
              </a:rPr>
              <a:t>EXPERIENCE</a:t>
            </a:r>
            <a:endParaRPr lang="en-US" sz="1450" dirty="0"/>
          </a:p>
        </p:txBody>
      </p:sp>
      <p:sp>
        <p:nvSpPr>
          <p:cNvPr id="27" name="Text 25"/>
          <p:cNvSpPr txBox="1"/>
          <p:nvPr/>
        </p:nvSpPr>
        <p:spPr>
          <a:xfrm>
            <a:off x="9857232" y="2697480"/>
            <a:ext cx="1645920" cy="640080"/>
          </a:xfrm>
          <a:prstGeom prst="rect">
            <a:avLst/>
          </a:prstGeom>
          <a:noFill/>
          <a:ln/>
        </p:spPr>
        <p:txBody>
          <a:bodyPr wrap="square" lIns="0" tIns="0" rIns="0" bIns="0" rtlCol="0" anchor="t"/>
          <a:lstStyle/>
          <a:p>
            <a:pPr indent="0" marL="0">
              <a:buNone/>
            </a:pPr>
            <a:r>
              <a:rPr lang="en-US" sz="1250" dirty="0">
                <a:solidFill>
                  <a:srgbClr val="121217"/>
                </a:solidFill>
                <a:latin typeface="Calibri" pitchFamily="34" charset="0"/>
                <a:ea typeface="Calibri" pitchFamily="34" charset="-122"/>
                <a:cs typeface="Calibri" pitchFamily="34" charset="-120"/>
              </a:rPr>
              <a:t>Cohort plays what it built</a:t>
            </a:r>
            <a:endParaRPr lang="en-US" sz="1250" dirty="0"/>
          </a:p>
        </p:txBody>
      </p:sp>
      <p:sp>
        <p:nvSpPr>
          <p:cNvPr id="28" name="Text 26"/>
          <p:cNvSpPr txBox="1"/>
          <p:nvPr/>
        </p:nvSpPr>
        <p:spPr>
          <a:xfrm>
            <a:off x="548640" y="3886200"/>
            <a:ext cx="5486400" cy="274320"/>
          </a:xfrm>
          <a:prstGeom prst="rect">
            <a:avLst/>
          </a:prstGeom>
          <a:noFill/>
          <a:ln/>
        </p:spPr>
        <p:txBody>
          <a:bodyPr wrap="square" lIns="0" tIns="0" rIns="0" bIns="0" rtlCol="0" anchor="ctr"/>
          <a:lstStyle/>
          <a:p>
            <a:pPr indent="0" marL="0">
              <a:buNone/>
            </a:pPr>
            <a:r>
              <a:rPr lang="en-US" sz="1200" b="1" spc="300" kern="0" dirty="0">
                <a:solidFill>
                  <a:srgbClr val="C9A45C"/>
                </a:solidFill>
                <a:latin typeface="Calibri" pitchFamily="34" charset="0"/>
                <a:ea typeface="Calibri" pitchFamily="34" charset="-122"/>
                <a:cs typeface="Calibri" pitchFamily="34" charset="-120"/>
              </a:rPr>
              <a:t>POSSIBLE FORMATS</a:t>
            </a:r>
            <a:endParaRPr lang="en-US" sz="1200" dirty="0"/>
          </a:p>
        </p:txBody>
      </p:sp>
      <p:sp>
        <p:nvSpPr>
          <p:cNvPr id="29" name="Shape 27"/>
          <p:cNvSpPr/>
          <p:nvPr/>
        </p:nvSpPr>
        <p:spPr>
          <a:xfrm>
            <a:off x="548640" y="4251960"/>
            <a:ext cx="2918765" cy="402336"/>
          </a:xfrm>
          <a:prstGeom prst="roundRect">
            <a:avLst>
              <a:gd name="adj" fmla="val 50000"/>
            </a:avLst>
          </a:prstGeom>
          <a:solidFill>
            <a:srgbClr val="121217"/>
          </a:solidFill>
          <a:ln w="12700">
            <a:solidFill>
              <a:srgbClr val="C9A45C"/>
            </a:solidFill>
            <a:prstDash val="solid"/>
          </a:ln>
        </p:spPr>
      </p:sp>
      <p:sp>
        <p:nvSpPr>
          <p:cNvPr id="30" name="Text 28"/>
          <p:cNvSpPr txBox="1"/>
          <p:nvPr/>
        </p:nvSpPr>
        <p:spPr>
          <a:xfrm>
            <a:off x="548640" y="4251960"/>
            <a:ext cx="2918765" cy="402336"/>
          </a:xfrm>
          <a:prstGeom prst="rect">
            <a:avLst/>
          </a:prstGeom>
          <a:noFill/>
          <a:ln/>
        </p:spPr>
        <p:txBody>
          <a:bodyPr wrap="square" lIns="0" tIns="0" rIns="0" bIns="0" rtlCol="0" anchor="ctr"/>
          <a:lstStyle/>
          <a:p>
            <a:pPr algn="ctr" indent="0" marL="0">
              <a:buNone/>
            </a:pPr>
            <a:r>
              <a:rPr lang="en-US" sz="1300" dirty="0">
                <a:solidFill>
                  <a:srgbClr val="F7F5F1"/>
                </a:solidFill>
                <a:latin typeface="Calibri" pitchFamily="34" charset="0"/>
                <a:ea typeface="Calibri" pitchFamily="34" charset="-122"/>
                <a:cs typeface="Calibri" pitchFamily="34" charset="-120"/>
              </a:rPr>
              <a:t>Supplemental hands-on project</a:t>
            </a:r>
            <a:endParaRPr lang="en-US" sz="1300" dirty="0"/>
          </a:p>
        </p:txBody>
      </p:sp>
      <p:sp>
        <p:nvSpPr>
          <p:cNvPr id="31" name="Shape 29"/>
          <p:cNvSpPr/>
          <p:nvPr/>
        </p:nvSpPr>
        <p:spPr>
          <a:xfrm>
            <a:off x="3650285" y="4251960"/>
            <a:ext cx="2291486" cy="402336"/>
          </a:xfrm>
          <a:prstGeom prst="roundRect">
            <a:avLst>
              <a:gd name="adj" fmla="val 50000"/>
            </a:avLst>
          </a:prstGeom>
          <a:solidFill>
            <a:srgbClr val="121217"/>
          </a:solidFill>
          <a:ln w="12700">
            <a:solidFill>
              <a:srgbClr val="C9A45C"/>
            </a:solidFill>
            <a:prstDash val="solid"/>
          </a:ln>
        </p:spPr>
      </p:sp>
      <p:sp>
        <p:nvSpPr>
          <p:cNvPr id="32" name="Text 30"/>
          <p:cNvSpPr txBox="1"/>
          <p:nvPr/>
        </p:nvSpPr>
        <p:spPr>
          <a:xfrm>
            <a:off x="3650285" y="4251960"/>
            <a:ext cx="2291486" cy="402336"/>
          </a:xfrm>
          <a:prstGeom prst="rect">
            <a:avLst/>
          </a:prstGeom>
          <a:noFill/>
          <a:ln/>
        </p:spPr>
        <p:txBody>
          <a:bodyPr wrap="square" lIns="0" tIns="0" rIns="0" bIns="0" rtlCol="0" anchor="ctr"/>
          <a:lstStyle/>
          <a:p>
            <a:pPr algn="ctr" indent="0" marL="0">
              <a:buNone/>
            </a:pPr>
            <a:r>
              <a:rPr lang="en-US" sz="1300" dirty="0">
                <a:solidFill>
                  <a:srgbClr val="F7F5F1"/>
                </a:solidFill>
                <a:latin typeface="Calibri" pitchFamily="34" charset="0"/>
                <a:ea typeface="Calibri" pitchFamily="34" charset="-122"/>
                <a:cs typeface="Calibri" pitchFamily="34" charset="-120"/>
              </a:rPr>
              <a:t>Capstone-style project</a:t>
            </a:r>
            <a:endParaRPr lang="en-US" sz="1300" dirty="0"/>
          </a:p>
        </p:txBody>
      </p:sp>
      <p:sp>
        <p:nvSpPr>
          <p:cNvPr id="33" name="Shape 31"/>
          <p:cNvSpPr/>
          <p:nvPr/>
        </p:nvSpPr>
        <p:spPr>
          <a:xfrm>
            <a:off x="6124651" y="4251960"/>
            <a:ext cx="2918765" cy="402336"/>
          </a:xfrm>
          <a:prstGeom prst="roundRect">
            <a:avLst>
              <a:gd name="adj" fmla="val 50000"/>
            </a:avLst>
          </a:prstGeom>
          <a:solidFill>
            <a:srgbClr val="121217"/>
          </a:solidFill>
          <a:ln w="12700">
            <a:solidFill>
              <a:srgbClr val="C9A45C"/>
            </a:solidFill>
            <a:prstDash val="solid"/>
          </a:ln>
        </p:spPr>
      </p:sp>
      <p:sp>
        <p:nvSpPr>
          <p:cNvPr id="34" name="Text 32"/>
          <p:cNvSpPr txBox="1"/>
          <p:nvPr/>
        </p:nvSpPr>
        <p:spPr>
          <a:xfrm>
            <a:off x="6124651" y="4251960"/>
            <a:ext cx="2918765" cy="402336"/>
          </a:xfrm>
          <a:prstGeom prst="rect">
            <a:avLst/>
          </a:prstGeom>
          <a:noFill/>
          <a:ln/>
        </p:spPr>
        <p:txBody>
          <a:bodyPr wrap="square" lIns="0" tIns="0" rIns="0" bIns="0" rtlCol="0" anchor="ctr"/>
          <a:lstStyle/>
          <a:p>
            <a:pPr algn="ctr" indent="0" marL="0">
              <a:buNone/>
            </a:pPr>
            <a:r>
              <a:rPr lang="en-US" sz="1300" dirty="0">
                <a:solidFill>
                  <a:srgbClr val="F7F5F1"/>
                </a:solidFill>
                <a:latin typeface="Calibri" pitchFamily="34" charset="0"/>
                <a:ea typeface="Calibri" pitchFamily="34" charset="-122"/>
                <a:cs typeface="Calibri" pitchFamily="34" charset="-120"/>
              </a:rPr>
              <a:t>Cohort challenge or hackathon</a:t>
            </a:r>
            <a:endParaRPr lang="en-US" sz="1300" dirty="0"/>
          </a:p>
        </p:txBody>
      </p:sp>
      <p:sp>
        <p:nvSpPr>
          <p:cNvPr id="35" name="Shape 33"/>
          <p:cNvSpPr/>
          <p:nvPr/>
        </p:nvSpPr>
        <p:spPr>
          <a:xfrm>
            <a:off x="548640" y="4782312"/>
            <a:ext cx="3277210" cy="402336"/>
          </a:xfrm>
          <a:prstGeom prst="roundRect">
            <a:avLst>
              <a:gd name="adj" fmla="val 50000"/>
            </a:avLst>
          </a:prstGeom>
          <a:solidFill>
            <a:srgbClr val="121217"/>
          </a:solidFill>
          <a:ln w="12700">
            <a:solidFill>
              <a:srgbClr val="C9A45C"/>
            </a:solidFill>
            <a:prstDash val="solid"/>
          </a:ln>
        </p:spPr>
      </p:sp>
      <p:sp>
        <p:nvSpPr>
          <p:cNvPr id="36" name="Text 34"/>
          <p:cNvSpPr txBox="1"/>
          <p:nvPr/>
        </p:nvSpPr>
        <p:spPr>
          <a:xfrm>
            <a:off x="548640" y="4782312"/>
            <a:ext cx="3277210" cy="402336"/>
          </a:xfrm>
          <a:prstGeom prst="rect">
            <a:avLst/>
          </a:prstGeom>
          <a:noFill/>
          <a:ln/>
        </p:spPr>
        <p:txBody>
          <a:bodyPr wrap="square" lIns="0" tIns="0" rIns="0" bIns="0" rtlCol="0" anchor="ctr"/>
          <a:lstStyle/>
          <a:p>
            <a:pPr algn="ctr" indent="0" marL="0">
              <a:buNone/>
            </a:pPr>
            <a:r>
              <a:rPr lang="en-US" sz="1300" dirty="0">
                <a:solidFill>
                  <a:srgbClr val="F7F5F1"/>
                </a:solidFill>
                <a:latin typeface="Calibri" pitchFamily="34" charset="0"/>
                <a:ea typeface="Calibri" pitchFamily="34" charset="-122"/>
                <a:cs typeface="Calibri" pitchFamily="34" charset="-120"/>
              </a:rPr>
              <a:t>Practice between training modules</a:t>
            </a:r>
            <a:endParaRPr lang="en-US" sz="1300" dirty="0"/>
          </a:p>
        </p:txBody>
      </p:sp>
      <p:sp>
        <p:nvSpPr>
          <p:cNvPr id="37" name="Shape 35"/>
          <p:cNvSpPr/>
          <p:nvPr/>
        </p:nvSpPr>
        <p:spPr>
          <a:xfrm>
            <a:off x="4008730" y="4782312"/>
            <a:ext cx="2470709" cy="402336"/>
          </a:xfrm>
          <a:prstGeom prst="roundRect">
            <a:avLst>
              <a:gd name="adj" fmla="val 50000"/>
            </a:avLst>
          </a:prstGeom>
          <a:solidFill>
            <a:srgbClr val="121217"/>
          </a:solidFill>
          <a:ln w="12700">
            <a:solidFill>
              <a:srgbClr val="C9A45C"/>
            </a:solidFill>
            <a:prstDash val="solid"/>
          </a:ln>
        </p:spPr>
      </p:sp>
      <p:sp>
        <p:nvSpPr>
          <p:cNvPr id="38" name="Text 36"/>
          <p:cNvSpPr txBox="1"/>
          <p:nvPr/>
        </p:nvSpPr>
        <p:spPr>
          <a:xfrm>
            <a:off x="4008730" y="4782312"/>
            <a:ext cx="2470709" cy="402336"/>
          </a:xfrm>
          <a:prstGeom prst="rect">
            <a:avLst/>
          </a:prstGeom>
          <a:noFill/>
          <a:ln/>
        </p:spPr>
        <p:txBody>
          <a:bodyPr wrap="square" lIns="0" tIns="0" rIns="0" bIns="0" rtlCol="0" anchor="ctr"/>
          <a:lstStyle/>
          <a:p>
            <a:pPr algn="ctr" indent="0" marL="0">
              <a:buNone/>
            </a:pPr>
            <a:r>
              <a:rPr lang="en-US" sz="1300" dirty="0">
                <a:solidFill>
                  <a:srgbClr val="F7F5F1"/>
                </a:solidFill>
                <a:latin typeface="Calibri" pitchFamily="34" charset="0"/>
                <a:ea typeface="Calibri" pitchFamily="34" charset="-122"/>
                <a:cs typeface="Calibri" pitchFamily="34" charset="-120"/>
              </a:rPr>
              <a:t>LEAP team-building event</a:t>
            </a:r>
            <a:endParaRPr lang="en-US" sz="1300" dirty="0"/>
          </a:p>
        </p:txBody>
      </p:sp>
      <p:sp>
        <p:nvSpPr>
          <p:cNvPr id="39" name="Text 37"/>
          <p:cNvSpPr txBox="1"/>
          <p:nvPr/>
        </p:nvSpPr>
        <p:spPr>
          <a:xfrm>
            <a:off x="548640" y="5532120"/>
            <a:ext cx="7863840" cy="548640"/>
          </a:xfrm>
          <a:prstGeom prst="rect">
            <a:avLst/>
          </a:prstGeom>
          <a:noFill/>
          <a:ln/>
        </p:spPr>
        <p:txBody>
          <a:bodyPr wrap="square" lIns="0" tIns="0" rIns="0" bIns="0" rtlCol="0" anchor="ctr"/>
          <a:lstStyle/>
          <a:p>
            <a:pPr indent="0" marL="0">
              <a:buNone/>
            </a:pPr>
            <a:r>
              <a:rPr lang="en-US" sz="2400" i="1" dirty="0">
                <a:solidFill>
                  <a:srgbClr val="F7F5F1"/>
                </a:solidFill>
                <a:latin typeface="Cambria" pitchFamily="34" charset="0"/>
                <a:ea typeface="Cambria" pitchFamily="34" charset="-122"/>
                <a:cs typeface="Cambria" pitchFamily="34" charset="-120"/>
              </a:rPr>
              <a:t>Let me show you what that actually looks like.</a:t>
            </a:r>
            <a:endParaRPr lang="en-US" sz="2400" dirty="0"/>
          </a:p>
        </p:txBody>
      </p:sp>
      <p:sp>
        <p:nvSpPr>
          <p:cNvPr id="40" name="Shape 38"/>
          <p:cNvSpPr/>
          <p:nvPr/>
        </p:nvSpPr>
        <p:spPr>
          <a:xfrm>
            <a:off x="8622792" y="5504688"/>
            <a:ext cx="3017520" cy="603504"/>
          </a:xfrm>
          <a:prstGeom prst="roundRect">
            <a:avLst>
              <a:gd name="adj" fmla="val 15152"/>
            </a:avLst>
          </a:prstGeom>
          <a:solidFill>
            <a:srgbClr val="8C2233"/>
          </a:solidFill>
          <a:ln w="12700">
            <a:solidFill>
              <a:srgbClr val="8C2233"/>
            </a:solidFill>
            <a:prstDash val="solid"/>
          </a:ln>
        </p:spPr>
      </p:sp>
      <p:sp>
        <p:nvSpPr>
          <p:cNvPr id="41" name="Text 39"/>
          <p:cNvSpPr txBox="1"/>
          <p:nvPr/>
        </p:nvSpPr>
        <p:spPr>
          <a:xfrm>
            <a:off x="8622792" y="5504688"/>
            <a:ext cx="3017520" cy="603504"/>
          </a:xfrm>
          <a:prstGeom prst="rect">
            <a:avLst/>
          </a:prstGeom>
          <a:noFill/>
          <a:ln/>
        </p:spPr>
        <p:txBody>
          <a:bodyPr wrap="square" lIns="0" tIns="0" rIns="0" bIns="0" rtlCol="0" anchor="ctr"/>
          <a:lstStyle/>
          <a:p>
            <a:pPr algn="ctr" indent="0" marL="0">
              <a:buNone/>
            </a:pPr>
            <a:r>
              <a:rPr lang="en-US" sz="1400" b="1" dirty="0">
                <a:solidFill>
                  <a:srgbClr val="F7F5F1"/>
                </a:solidFill>
                <a:latin typeface="Calibri" pitchFamily="34" charset="0"/>
                <a:ea typeface="Calibri" pitchFamily="34" charset="-122"/>
                <a:cs typeface="Calibri" pitchFamily="34" charset="-120"/>
              </a:rPr>
              <a:t>LIVE DEMO  →  BLACK VEIL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Veil — LEAP Pitch</dc:title>
  <dc:subject>PptxGenJS Presentation</dc:subject>
  <dc:creator>PptxGenJS</dc:creator>
  <cp:lastModifiedBy>PptxGenJS</cp:lastModifiedBy>
  <cp:revision>1</cp:revision>
  <dcterms:created xsi:type="dcterms:W3CDTF">2026-09-29T19:00:25Z</dcterms:created>
  <dcterms:modified xsi:type="dcterms:W3CDTF">2026-09-29T19:00:25Z</dcterms:modified>
</cp:coreProperties>
</file>